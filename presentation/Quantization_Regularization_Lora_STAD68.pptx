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1"/>
  </p:notesMasterIdLst>
  <p:handoutMasterIdLst>
    <p:handoutMasterId r:id="rId32"/>
  </p:handoutMasterIdLst>
  <p:sldIdLst>
    <p:sldId id="256" r:id="rId5"/>
    <p:sldId id="257" r:id="rId6"/>
    <p:sldId id="259" r:id="rId7"/>
    <p:sldId id="260" r:id="rId8"/>
    <p:sldId id="261" r:id="rId9"/>
    <p:sldId id="262" r:id="rId10"/>
    <p:sldId id="263" r:id="rId11"/>
    <p:sldId id="264" r:id="rId12"/>
    <p:sldId id="281" r:id="rId13"/>
    <p:sldId id="258"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B4C4AEA3-6B3F-CC42-978A-E79612A86975}">
          <p14:sldIdLst>
            <p14:sldId id="256"/>
            <p14:sldId id="257"/>
            <p14:sldId id="259"/>
            <p14:sldId id="260"/>
            <p14:sldId id="261"/>
            <p14:sldId id="262"/>
            <p14:sldId id="263"/>
            <p14:sldId id="264"/>
            <p14:sldId id="281"/>
            <p14:sldId id="258"/>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15:guide id="1" orient="horz" pos="4032" userDrawn="1">
          <p15:clr>
            <a:srgbClr val="A4A3A4"/>
          </p15:clr>
        </p15:guide>
        <p15:guide id="3" orient="horz" pos="1056" userDrawn="1">
          <p15:clr>
            <a:srgbClr val="A4A3A4"/>
          </p15:clr>
        </p15:guide>
        <p15:guide id="7" orient="horz" pos="1214" userDrawn="1">
          <p15:clr>
            <a:srgbClr val="A4A3A4"/>
          </p15:clr>
        </p15:guide>
        <p15:guide id="8" orient="horz" pos="624" userDrawn="1">
          <p15:clr>
            <a:srgbClr val="A4A3A4"/>
          </p15:clr>
        </p15:guide>
        <p15:guide id="9" orient="horz" pos="3552" userDrawn="1">
          <p15:clr>
            <a:srgbClr val="A4A3A4"/>
          </p15:clr>
        </p15:guide>
        <p15:guide id="11" pos="1032" userDrawn="1">
          <p15:clr>
            <a:srgbClr val="A4A3A4"/>
          </p15:clr>
        </p15:guide>
        <p15:guide id="12" pos="7204" userDrawn="1">
          <p15:clr>
            <a:srgbClr val="A4A3A4"/>
          </p15:clr>
        </p15:guide>
        <p15:guide id="13" pos="576" userDrawn="1">
          <p15:clr>
            <a:srgbClr val="A4A3A4"/>
          </p15:clr>
        </p15:guide>
        <p15:guide id="16" pos="6769" userDrawn="1">
          <p15:clr>
            <a:srgbClr val="A4A3A4"/>
          </p15:clr>
        </p15:guide>
        <p15:guide id="17"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E2A"/>
    <a:srgbClr val="849E00"/>
    <a:srgbClr val="B3601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592" autoAdjust="0"/>
    <p:restoredTop sz="96357" autoAdjust="0"/>
  </p:normalViewPr>
  <p:slideViewPr>
    <p:cSldViewPr snapToGrid="0">
      <p:cViewPr varScale="1">
        <p:scale>
          <a:sx n="74" d="100"/>
          <a:sy n="74" d="100"/>
        </p:scale>
        <p:origin x="72" y="163"/>
      </p:cViewPr>
      <p:guideLst>
        <p:guide orient="horz" pos="4032"/>
        <p:guide orient="horz" pos="1056"/>
        <p:guide orient="horz" pos="1214"/>
        <p:guide orient="horz" pos="624"/>
        <p:guide orient="horz" pos="3552"/>
        <p:guide pos="1032"/>
        <p:guide pos="7204"/>
        <p:guide pos="576"/>
        <p:guide pos="6769"/>
        <p:guide pos="3840"/>
      </p:guideLst>
    </p:cSldViewPr>
  </p:slideViewPr>
  <p:outlineViewPr>
    <p:cViewPr>
      <p:scale>
        <a:sx n="33" d="100"/>
        <a:sy n="33" d="100"/>
      </p:scale>
      <p:origin x="0" y="-15712"/>
    </p:cViewPr>
  </p:outlineViewPr>
  <p:notesTextViewPr>
    <p:cViewPr>
      <p:scale>
        <a:sx n="100" d="100"/>
        <a:sy n="100" d="100"/>
      </p:scale>
      <p:origin x="0" y="0"/>
    </p:cViewPr>
  </p:notesTextViewPr>
  <p:notesViewPr>
    <p:cSldViewPr snapToGrid="0" showGuides="1">
      <p:cViewPr varScale="1">
        <p:scale>
          <a:sx n="87" d="100"/>
          <a:sy n="87" d="100"/>
        </p:scale>
        <p:origin x="298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DD46A28-9CAF-E041-8311-DFCD44262095}" type="datetime1">
              <a:rPr lang="en-US" smtClean="0"/>
              <a:t>3/27/2026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3BEA41-3E73-2348-A8FF-2E926A2CF1B9}" type="slidenum">
              <a:rPr lang="en-US" smtClean="0"/>
              <a:t>‹#›</a:t>
            </a:fld>
            <a:endParaRPr lang="en-US"/>
          </a:p>
        </p:txBody>
      </p:sp>
    </p:spTree>
    <p:extLst>
      <p:ext uri="{BB962C8B-B14F-4D97-AF65-F5344CB8AC3E}">
        <p14:creationId xmlns:p14="http://schemas.microsoft.com/office/powerpoint/2010/main" val="309001504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22D4DA-089F-F344-9C15-F02D87A8D9F3}" type="datetime1">
              <a:rPr lang="en-US" smtClean="0"/>
              <a:t>3/27/2026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930545-154E-774E-8D78-F1689AC6A5E6}" type="slidenum">
              <a:rPr lang="en-US" smtClean="0"/>
              <a:t>‹#›</a:t>
            </a:fld>
            <a:endParaRPr lang="en-US"/>
          </a:p>
        </p:txBody>
      </p:sp>
    </p:spTree>
    <p:extLst>
      <p:ext uri="{BB962C8B-B14F-4D97-AF65-F5344CB8AC3E}">
        <p14:creationId xmlns:p14="http://schemas.microsoft.com/office/powerpoint/2010/main" val="906760183"/>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present our investigation into whether quantization noise can act as an implicit regularizer when fine-tuning LLMs with limited data. This is a controlled empirical study spanning two model scales with 156 total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TAKEAWAY: Fine-tuning large language models is the standard way to adapt them to specific tasks, but practitioners face three interrelated challenges: limited training data (often just hundreds of examples), limited GPU memory (models need 14+ GB), and high overfitting risk. </a:t>
            </a:r>
            <a:r>
              <a:rPr dirty="0" err="1"/>
              <a:t>QLoRA</a:t>
            </a:r>
            <a:r>
              <a:rPr dirty="0"/>
              <a:t> solves the memory problem, but we ask: does it also accidentally help with overfitting? That's the core question of our study.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TAKEAWAY: Fine-tuning means taking a general-purpose language model and teaching it a specific skill with a small dataset. Think of it like teaching an expert a new specialty — they already know the fundamentals. The challenge is that with very few examples (low-data), the model tends to memorize rather than truly learn, which is called overfitting.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TAKEAWAY: </a:t>
            </a:r>
            <a:r>
              <a:rPr dirty="0" err="1"/>
              <a:t>LoRA</a:t>
            </a:r>
            <a:r>
              <a:rPr dirty="0"/>
              <a:t> freezes all pretrained weights and adds small trainable matrices (B and A). The rank r determines how expressive these adapters are. Crucially, </a:t>
            </a:r>
            <a:r>
              <a:rPr dirty="0" err="1"/>
              <a:t>LoRA</a:t>
            </a:r>
            <a:r>
              <a:rPr dirty="0"/>
              <a:t> is already a form of regularization because it restricts the model to a low-dimensional update subspace. This becomes important later when we explain why quantization doesn't help at small model scales.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Quantization reduces the precision of model weights — from 16-bit to 8-bit or 4-bit. This introduces 'quantization noise' (Delta). The key formula shows how each weight is rounded to the nearest discrete level. 4-bit NF4 is the format used in QLoRA — it's specifically designed for normally-distributed weights. The question is: does this rounding noise help or hurt the model?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QLoRA combines quantization and LoRA. The standard view is that it's purely about memory savings — fitting a big model on a small GPU. Our research asks a different question: does the noise introduced by quantization accidentally help the model generalize better? This is the 'implicit regularization' hypothesis. Dettmers et al. (2023) introduced QLoRA; we investigate its statistical side-effects.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Alpaca is a ~52K instruction-following dataset from Stanford. Each example has an instruction (what to do), an optional input, and the expected output. We use subsets of 100, 500, 1000, and 5000 examples — these small sizes simulate the real-world scenario where you have very limited training data. The test set of 500 examples is kept fixed across ALL experiments for fair comparison.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The theory from AskariHemmat et al. (QGen, 2024) shows that quantization adds a non-negative penalty R(Delta) to the training loss. This penalty grows with more aggressive quantization. In the bias-variance framework, when you have few training examples, variance dominates test error. A regularizer (like R(Delta)) can reduce variance at the cost of small bias — potentially improving generalization. This is the theoretical basis for our hypothesis that quantization could help.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TAKEAWAY: This slide deepens the theory. Two key ideas: (1) The </a:t>
            </a:r>
            <a:r>
              <a:rPr dirty="0" err="1"/>
              <a:t>LoRA</a:t>
            </a:r>
            <a:r>
              <a:rPr dirty="0"/>
              <a:t> interaction — quantization error creates a variance-like penalty tr(Cov(Delta) G^T G) that biases adapters toward stable, small-norm solutions. (2) The sharpness bound — the PAC-Bayes bound has two terms: a sharpness term (max loss in a neighborhood) and a complexity term (weight norm). Quantization reduces sharpness by smoothing the landscape, which can lower the population loss bound. The loss landscape visualization from </a:t>
            </a:r>
            <a:r>
              <a:rPr dirty="0" err="1"/>
              <a:t>QGen</a:t>
            </a:r>
            <a:r>
              <a:rPr dirty="0"/>
              <a:t> shows this concretely: 8-bit is smoother than full precision, while 2-bit/4-bit becomes jagged. This is why 8-bit hits the sweet spot at 7B scale.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one-sentence summary of the entire project. The key discovery is that quantization's statistical effect depends on model scale — it's not just about saving memory. At 7B parameters, 8-bit quantization actually makes the model generalize BETTER. This was unexpected because we initially hypothesized the effect would appear even at small scale.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TAKEAWAY: We test three hypotheses. H1 is the core claim — that quantization acts as a </a:t>
            </a:r>
            <a:r>
              <a:rPr dirty="0" err="1"/>
              <a:t>regularizer</a:t>
            </a:r>
            <a:r>
              <a:rPr dirty="0"/>
              <a:t> and helps at low data. H2 checks whether the benefit fades with more data (which classical regularization theory predicts). H3 tests an interaction: since </a:t>
            </a:r>
            <a:r>
              <a:rPr dirty="0" err="1"/>
              <a:t>LoRA</a:t>
            </a:r>
            <a:r>
              <a:rPr dirty="0"/>
              <a:t> rank controls model capacity, lower rank + quantization should provide compounding regularization. We originally had an H4 about numeracy failure modes, but we've excluded it from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We ran 156 total experiments in a controlled factorial design. For TinyLlama (1.1B params), we test 3 precisions x 4 data sizes x 3 LoRA ranks x 3 seeds = 108 runs. For Mistral-7B, we use a reduced design with 48 runs. Everything is fixed except the variables we're testing — same learning rate, same optimizer, same epochs, same test set across ALL conditions. This is crucial for clean causal attribution.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We now present the TinyLlama-1.1B results. The headline: we found NO evidence of quantization acting as a regularizer at this model scale. FP16 wins everywhere.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This is the core negative result at 1.1B. FP16 is best everywhere. Even at n=100, where the theory most strongly predicts a regularization benefit, 4-bit is WORSE by 0.019 NLL. 8-bit is very close to FP16 (within 0.003), making it practically viable for memory savings. But there's zero evidence of regularization. H2 also fails — the gap doesn't shrink with more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This plot is the visual smoking gun for the null result at 1.1B. FP16 and 8-bit validation loss curves are nearly indistinguishable at all data sizes. 4-bit sits consistently above — meaning higher loss = worse performance. If quantization were regularizing, we'd expect 4-bit to cross below FP16 at small n (left side). This never happens.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The generalization gap (train loss minus val loss) tells us about overfitting. If quantization were reducing variance (acting as a regularizer), we'd expect 4-bit to show a noticeably smaller gap at low n. Instead, all three precisions have nearly identical gaps at every data size. This rules out a variance-reduction mechanism at 1.1B. The fact that 4-bit has a marginally larger gap is consistent with capacity degradation, not regularization.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H3 predicts that lower LoRA rank should amplify quantization's benefit (or reduce its harm). At TinyLlama, we see a slight trend in the right direction — the 4-bit penalty is marginally larger at r=64 (0.015) than at r=4 (0.013). But this is within the noise band. We can't claim H3 is supported at this scale. However — and this is key — the same analysis at 7B scale tells a very different story.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Now we scale up to Mistral-7B — 6x the parameters. The story completely changes. 8-bit quantization doesn't just match FP16 — it BEATS it at every data size tested. This is the scale-dependent regularization we discover.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This is the key positive finding. At Mistral-7B, 8-bit quantization achieves the LOWEST test loss at every data size — beating FP16 by margins from 0.005 to 0.021 NLL. H2 is inverted: the benefit grows with more data, not shrinks. This is explained by loss landscape smoothing: more data means longer training, FP16 reaches sharper minima, but 8-bit stays in flatter regions. NOTE: The growth is not perfectly monotonic — it dips slightly at n=500 before jumping at n=1000 — but the overall trend is clear.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Compare this plot directly with the TinyLlama validation loss plot. The relative positions of the curves are REVERSED. At TinyLlama, FP16 was always on the bottom (best). At Mistral-7B, the blue 8-bit curve sits below FP16 — meaning it generalizes better. The gap widens as n increases, which is the opposite of what H2 predicted.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H3 is STRONGLY supported at 7B. The 4-bit penalty at r=16 is 2.2x larger than at r=4. Even more striking: at r=4 with n&gt;=1000, 4-bit actually has a NEGATIVE penalty — meaning it HELPS. Low rank + quantization = compounding regularization. This confirms the theoretical prediction that the regularization effect interacts with adapter capacity.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This is the central insight of the paper. At 1.1B, LoRA already provides sufficient regularization — the model doesn't have enough excess capacity for quantization noise to help. At 7B, there's massive excess capacity that LoRA alone can't constrain. 8-bit quantization provides just enough capacity reduction to smooth the loss landscape without destroying representation quality. 4-bit is too aggressive — it damages representations at low data, but at high data + low rank it becomes beneficial too.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Three mechanisms explain our results. (1) Capacity: 1.1B is small enough that quantization destroys useful representations, while 7B has so much excess capacity that mild quantization is beneficial. (2) Loss landscape: QGen theory predicts that quantization pushes toward flatter minima — this matters more for larger models with sharper landscapes. (3) Deterministic noise: unlike dropout, quantization noise is fixed per weight. At small scale this just adds bias; at large scale the landscape-smoothing effect dominates.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TAKEAWAY: The practical recommendation is clear: at 7B+ scale, use 8-bit quantization — you save memory AND improve generalization. At sub-2B scale, use quantization only for memory, not performance. Key limitations: we tested only 2 seeds at 7B (limited statistical power), a single task type, and one quantization library. Future work should test at larger scales and with different quantization methods.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 Three things to remember. (1) Whether quantization helps or hurts depends on model scale — this was unknown before our study. (2) At 7B and above, 8-bit quantization is not just a memory-saving trick — it genuinely improves how well the model generalizes. (3) The null result at 1.1B is itself a contribution — it prevents others from pursuing a false hypothesis at small scale.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key papers our work builds on. Hu et al. introduced LoRA. Dettmers et al. introduced QLoRA. AskariHemmat et al. (QGen) provided the theoretical basis for quantization as regularization. Taori et al. created the Alpaca dataset we used for all experiments.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CC484C-2D7D-BE4E-C922-2D18DBD5F6DB}"/>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6" name="Title 3">
            <a:extLst>
              <a:ext uri="{FF2B5EF4-FFF2-40B4-BE49-F238E27FC236}">
                <a16:creationId xmlns:a16="http://schemas.microsoft.com/office/drawing/2014/main" id="{57BEC321-6EA6-8506-8B36-3F40450693DD}"/>
              </a:ext>
            </a:extLst>
          </p:cNvPr>
          <p:cNvSpPr>
            <a:spLocks noGrp="1"/>
          </p:cNvSpPr>
          <p:nvPr>
            <p:ph type="ctrTitle" hasCustomPrompt="1"/>
          </p:nvPr>
        </p:nvSpPr>
        <p:spPr>
          <a:xfrm>
            <a:off x="1524000" y="1775317"/>
            <a:ext cx="9144000" cy="2162504"/>
          </a:xfrm>
        </p:spPr>
        <p:txBody>
          <a:bodyPr anchor="t"/>
          <a:lstStyle>
            <a:lvl1pPr>
              <a:defRPr sz="6000" b="0" i="0">
                <a:latin typeface="Aptos Display" panose="020B0004020202020204" pitchFamily="34" charset="0"/>
              </a:defRPr>
            </a:lvl1pPr>
          </a:lstStyle>
          <a:p>
            <a:pPr algn="l"/>
            <a:r>
              <a:rPr lang="en-US" dirty="0">
                <a:solidFill>
                  <a:srgbClr val="12294B"/>
                </a:solidFill>
              </a:rPr>
              <a:t>Presentation Title</a:t>
            </a:r>
          </a:p>
        </p:txBody>
      </p:sp>
      <p:sp>
        <p:nvSpPr>
          <p:cNvPr id="7" name="Subtitle 4">
            <a:extLst>
              <a:ext uri="{FF2B5EF4-FFF2-40B4-BE49-F238E27FC236}">
                <a16:creationId xmlns:a16="http://schemas.microsoft.com/office/drawing/2014/main" id="{C28710D9-7F1B-FC88-1DE7-B3E65B19A061}"/>
              </a:ext>
            </a:extLst>
          </p:cNvPr>
          <p:cNvSpPr>
            <a:spLocks noGrp="1"/>
          </p:cNvSpPr>
          <p:nvPr>
            <p:ph type="subTitle" idx="1" hasCustomPrompt="1"/>
          </p:nvPr>
        </p:nvSpPr>
        <p:spPr>
          <a:xfrm>
            <a:off x="1524000" y="4001431"/>
            <a:ext cx="9144000" cy="1655762"/>
          </a:xfrm>
        </p:spPr>
        <p:txBody>
          <a:bodyPr/>
          <a:lstStyle>
            <a:lvl1pPr>
              <a:buNone/>
              <a:defRPr sz="2400"/>
            </a:lvl1pPr>
          </a:lstStyle>
          <a:p>
            <a:pPr algn="l"/>
            <a:r>
              <a:rPr lang="en-US" b="1" dirty="0">
                <a:solidFill>
                  <a:srgbClr val="12294B"/>
                </a:solidFill>
              </a:rPr>
              <a:t>Presenter Name</a:t>
            </a:r>
          </a:p>
          <a:p>
            <a:pPr algn="l"/>
            <a:r>
              <a:rPr lang="en-US" dirty="0">
                <a:solidFill>
                  <a:srgbClr val="12294B"/>
                </a:solidFill>
              </a:rPr>
              <a:t>Affiliation</a:t>
            </a:r>
          </a:p>
        </p:txBody>
      </p:sp>
    </p:spTree>
  </p:cSld>
  <p:clrMapOvr>
    <a:masterClrMapping/>
  </p:clrMapOvr>
  <p:extLst>
    <p:ext uri="{DCECCB84-F9BA-43D5-87BE-67443E8EF086}">
      <p15:sldGuideLst xmlns:p15="http://schemas.microsoft.com/office/powerpoint/2012/main">
        <p15:guide id="1" orient="horz" pos="2509" userDrawn="1">
          <p15:clr>
            <a:srgbClr val="FBAE40"/>
          </p15:clr>
        </p15:guide>
        <p15:guide id="2" pos="3840" userDrawn="1">
          <p15:clr>
            <a:srgbClr val="FBAE40"/>
          </p15:clr>
        </p15:guide>
        <p15:guide id="3" pos="1080" userDrawn="1">
          <p15:clr>
            <a:srgbClr val="FBAE40"/>
          </p15:clr>
        </p15:guide>
        <p15:guide id="4" pos="1416" userDrawn="1">
          <p15:clr>
            <a:srgbClr val="FBAE40"/>
          </p15:clr>
        </p15:guide>
        <p15:guide id="5" orient="horz" pos="2160" userDrawn="1">
          <p15:clr>
            <a:srgbClr val="FBAE40"/>
          </p15:clr>
        </p15:guide>
        <p15:guide id="6" orient="horz" pos="39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One-Content Slide-1 colum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9D0626-A5BC-B989-C614-AE9FF0E4047B}"/>
              </a:ext>
            </a:extLst>
          </p:cNvPr>
          <p:cNvPicPr>
            <a:picLocks noGrp="1" noRot="1" noMove="1" noResize="1" noEditPoints="1" noAdjustHandles="1" noChangeArrowheads="1" noChangeShapeType="1" noCrop="1"/>
          </p:cNvPicPr>
          <p:nvPr userDrawn="1"/>
        </p:nvPicPr>
        <p:blipFill>
          <a:blip r:embed="rId2"/>
          <a:stretch>
            <a:fillRect/>
          </a:stretch>
        </p:blipFill>
        <p:spPr>
          <a:xfrm>
            <a:off x="8788400" y="5603185"/>
            <a:ext cx="3403600" cy="1231900"/>
          </a:xfrm>
          <a:prstGeom prst="rect">
            <a:avLst/>
          </a:prstGeom>
        </p:spPr>
      </p:pic>
      <p:sp>
        <p:nvSpPr>
          <p:cNvPr id="2" name="Section One Title"/>
          <p:cNvSpPr>
            <a:spLocks noGrp="1"/>
          </p:cNvSpPr>
          <p:nvPr>
            <p:ph type="title" hasCustomPrompt="1"/>
          </p:nvPr>
        </p:nvSpPr>
        <p:spPr>
          <a:xfrm>
            <a:off x="612742" y="315328"/>
            <a:ext cx="8132940" cy="530490"/>
          </a:xfrm>
        </p:spPr>
        <p:txBody>
          <a:bodyPr lIns="0" tIns="0" rIns="0" bIns="0" anchor="t" anchorCtr="0">
            <a:noAutofit/>
          </a:bodyPr>
          <a:lstStyle>
            <a:lvl1pPr algn="l">
              <a:defRPr sz="3600" b="1" i="0" cap="none" spc="-150" baseline="0">
                <a:solidFill>
                  <a:schemeClr val="tx1"/>
                </a:solidFill>
                <a:latin typeface="Aptos Display" panose="020B0004020202020204" pitchFamily="34" charset="0"/>
                <a:cs typeface="Arial" panose="020B0604020202020204" pitchFamily="34" charset="0"/>
              </a:defRPr>
            </a:lvl1pPr>
          </a:lstStyle>
          <a:p>
            <a:pPr lvl="0"/>
            <a:r>
              <a:rPr lang="en-US" dirty="0"/>
              <a:t>Section One Title Impact Regular 30 Point</a:t>
            </a:r>
          </a:p>
        </p:txBody>
      </p:sp>
      <p:sp>
        <p:nvSpPr>
          <p:cNvPr id="3" name="Subhead"/>
          <p:cNvSpPr>
            <a:spLocks noGrp="1"/>
          </p:cNvSpPr>
          <p:nvPr>
            <p:ph type="body" idx="1" hasCustomPrompt="1"/>
          </p:nvPr>
        </p:nvSpPr>
        <p:spPr>
          <a:xfrm>
            <a:off x="612742" y="1238771"/>
            <a:ext cx="10972800" cy="421893"/>
          </a:xfrm>
        </p:spPr>
        <p:txBody>
          <a:bodyPr lIns="0" tIns="0" rIns="0" bIns="0" anchor="t" anchorCtr="0">
            <a:noAutofit/>
          </a:bodyPr>
          <a:lstStyle>
            <a:lvl1pPr marL="0" indent="0">
              <a:buNone/>
              <a:defRPr sz="2800" b="1" i="0" spc="-150" baseline="0">
                <a:solidFill>
                  <a:schemeClr val="accent2"/>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Subhead Impact Regular 28 Point Digital Headline Gold</a:t>
            </a:r>
          </a:p>
        </p:txBody>
      </p:sp>
      <p:sp>
        <p:nvSpPr>
          <p:cNvPr id="7" name="Body Text"/>
          <p:cNvSpPr>
            <a:spLocks noGrp="1"/>
          </p:cNvSpPr>
          <p:nvPr>
            <p:ph type="body" sz="quarter" idx="13" hasCustomPrompt="1"/>
          </p:nvPr>
        </p:nvSpPr>
        <p:spPr>
          <a:xfrm>
            <a:off x="612742" y="1916081"/>
            <a:ext cx="10972800" cy="4475292"/>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2000" b="0" i="0" normalizeH="0" baseline="0">
                <a:latin typeface="Arial"/>
              </a:defRPr>
            </a:lvl1pPr>
          </a:lstStyle>
          <a:p>
            <a:pPr lvl="0"/>
            <a:r>
              <a:rPr lang="en-US" dirty="0"/>
              <a:t>Bulleted copy. Arial Regular 20 </a:t>
            </a:r>
            <a:r>
              <a:rPr lang="en-US" dirty="0" err="1"/>
              <a:t>pt</a:t>
            </a:r>
            <a:r>
              <a:rPr lang="en-US" dirty="0"/>
              <a:t> minimum.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Arial Regular 20 </a:t>
            </a:r>
            <a:r>
              <a:rPr lang="en-US" dirty="0" err="1"/>
              <a:t>pt</a:t>
            </a:r>
            <a:r>
              <a:rPr lang="en-US" dirty="0"/>
              <a:t> minimum.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Arial Regular 20 </a:t>
            </a:r>
            <a:r>
              <a:rPr lang="en-US" dirty="0" err="1"/>
              <a:t>pt</a:t>
            </a:r>
            <a:r>
              <a:rPr lang="en-US" dirty="0"/>
              <a:t> minimum.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Arial Regular 20 </a:t>
            </a:r>
            <a:r>
              <a:rPr lang="en-US" dirty="0" err="1"/>
              <a:t>pt</a:t>
            </a:r>
            <a:r>
              <a:rPr lang="en-US" dirty="0"/>
              <a:t> minimum. Keep it short with bite-size chunks of information.</a:t>
            </a:r>
          </a:p>
        </p:txBody>
      </p:sp>
    </p:spTree>
    <p:extLst>
      <p:ext uri="{BB962C8B-B14F-4D97-AF65-F5344CB8AC3E}">
        <p14:creationId xmlns:p14="http://schemas.microsoft.com/office/powerpoint/2010/main" val="431754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416" userDrawn="1">
          <p15:clr>
            <a:srgbClr val="FBAE40"/>
          </p15:clr>
        </p15:guide>
        <p15:guide id="4" pos="10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BA976B-0972-325E-9285-21909C4818CA}"/>
              </a:ext>
            </a:extLst>
          </p:cNvPr>
          <p:cNvPicPr/>
          <p:nvPr userDrawn="1"/>
        </p:nvPicPr>
        <p:blipFill>
          <a:blip r:embed="rId2"/>
          <a:stretch>
            <a:fillRect/>
          </a:stretch>
        </p:blipFill>
        <p:spPr>
          <a:xfrm>
            <a:off x="0" y="1"/>
            <a:ext cx="5361245" cy="5008418"/>
          </a:xfrm>
          <a:prstGeom prst="rect">
            <a:avLst/>
          </a:prstGeom>
        </p:spPr>
      </p:pic>
      <p:sp>
        <p:nvSpPr>
          <p:cNvPr id="6" name="Rectangle 5">
            <a:extLst>
              <a:ext uri="{FF2B5EF4-FFF2-40B4-BE49-F238E27FC236}">
                <a16:creationId xmlns:a16="http://schemas.microsoft.com/office/drawing/2014/main" id="{CD52C624-D413-DAB7-315B-848D1722E078}"/>
              </a:ext>
            </a:extLst>
          </p:cNvPr>
          <p:cNvSpPr/>
          <p:nvPr userDrawn="1"/>
        </p:nvSpPr>
        <p:spPr>
          <a:xfrm>
            <a:off x="6361215" y="2967335"/>
            <a:ext cx="3397341"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Questions?</a:t>
            </a:r>
          </a:p>
        </p:txBody>
      </p:sp>
    </p:spTree>
    <p:extLst>
      <p:ext uri="{BB962C8B-B14F-4D97-AF65-F5344CB8AC3E}">
        <p14:creationId xmlns:p14="http://schemas.microsoft.com/office/powerpoint/2010/main" val="1854178959"/>
      </p:ext>
    </p:extLst>
  </p:cSld>
  <p:clrMapOvr>
    <a:masterClrMapping/>
  </p:clrMapOvr>
  <p:extLst>
    <p:ext uri="{DCECCB84-F9BA-43D5-87BE-67443E8EF086}">
      <p15:sldGuideLst xmlns:p15="http://schemas.microsoft.com/office/powerpoint/2012/main">
        <p15:guide id="1" orient="horz" pos="2509">
          <p15:clr>
            <a:srgbClr val="FBAE40"/>
          </p15:clr>
        </p15:guide>
        <p15:guide id="2" pos="3840">
          <p15:clr>
            <a:srgbClr val="FBAE40"/>
          </p15:clr>
        </p15:guide>
        <p15:guide id="3" pos="1080">
          <p15:clr>
            <a:srgbClr val="FBAE40"/>
          </p15:clr>
        </p15:guide>
        <p15:guide id="4" pos="1416">
          <p15:clr>
            <a:srgbClr val="FBAE40"/>
          </p15:clr>
        </p15:guide>
        <p15:guide id="5" orient="horz" pos="2160">
          <p15:clr>
            <a:srgbClr val="FBAE40"/>
          </p15:clr>
        </p15:guide>
        <p15:guide id="6" orient="horz" pos="393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437E35-53ED-5E4E-9D20-AC891FED6640}" type="datetime1">
              <a:rPr lang="en-US" smtClean="0"/>
              <a:t>3/27/2026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680DB3-FFB6-DA49-A752-B59EFFE07194}" type="slidenum">
              <a:rPr lang="en-US" smtClean="0"/>
              <a:t>‹#›</a:t>
            </a:fld>
            <a:endParaRPr lang="en-US"/>
          </a:p>
        </p:txBody>
      </p:sp>
    </p:spTree>
    <p:extLst>
      <p:ext uri="{BB962C8B-B14F-4D97-AF65-F5344CB8AC3E}">
        <p14:creationId xmlns:p14="http://schemas.microsoft.com/office/powerpoint/2010/main" val="2533500279"/>
      </p:ext>
    </p:extLst>
  </p:cSld>
  <p:clrMap bg1="lt1" tx1="dk1" bg2="lt2" tx2="dk2" accent1="accent1" accent2="accent2" accent3="accent3" accent4="accent4" accent5="accent5" accent6="accent6" hlink="hlink" folHlink="folHlink"/>
  <p:sldLayoutIdLst>
    <p:sldLayoutId id="2147483680" r:id="rId1"/>
    <p:sldLayoutId id="2147483651" r:id="rId2"/>
    <p:sldLayoutId id="2147483703" r:id="rId3"/>
  </p:sldLayoutIdLst>
  <p:hf sldNum="0" hdr="0" ftr="0" dt="0"/>
  <p:txStyles>
    <p:titleStyle>
      <a:lvl1pPr algn="ctr" defTabSz="457200" rtl="0" eaLnBrk="1" latinLnBrk="0" hangingPunct="1">
        <a:spcBef>
          <a:spcPct val="0"/>
        </a:spcBef>
        <a:buNone/>
        <a:defRPr sz="3000"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tatsu-lab/stanford_alpaca"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347472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548640"/>
            <a:ext cx="10515600" cy="1015663"/>
          </a:xfrm>
          <a:prstGeom prst="rect">
            <a:avLst/>
          </a:prstGeom>
          <a:noFill/>
        </p:spPr>
        <p:txBody>
          <a:bodyPr wrap="square">
            <a:spAutoFit/>
          </a:bodyPr>
          <a:lstStyle/>
          <a:p>
            <a:pPr algn="ctr">
              <a:defRPr sz="3000" b="1">
                <a:solidFill>
                  <a:srgbClr val="FFFFFF"/>
                </a:solidFill>
                <a:latin typeface="Georgia"/>
              </a:defRPr>
            </a:pPr>
            <a:r>
              <a:rPr dirty="0"/>
              <a:t>Scale-Dependent Regularization</a:t>
            </a:r>
            <a:br>
              <a:rPr dirty="0"/>
            </a:br>
            <a:r>
              <a:rPr dirty="0"/>
              <a:t>from Quantization in Low-Data </a:t>
            </a:r>
            <a:r>
              <a:rPr lang="en-US" dirty="0"/>
              <a:t>LLM</a:t>
            </a:r>
            <a:r>
              <a:rPr dirty="0"/>
              <a:t> Fine-Tuning</a:t>
            </a:r>
          </a:p>
        </p:txBody>
      </p:sp>
      <p:sp>
        <p:nvSpPr>
          <p:cNvPr id="4" name="TextBox 3"/>
          <p:cNvSpPr txBox="1"/>
          <p:nvPr/>
        </p:nvSpPr>
        <p:spPr>
          <a:xfrm>
            <a:off x="914400" y="2011680"/>
            <a:ext cx="10515600" cy="457200"/>
          </a:xfrm>
          <a:prstGeom prst="rect">
            <a:avLst/>
          </a:prstGeom>
          <a:noFill/>
        </p:spPr>
        <p:txBody>
          <a:bodyPr wrap="square">
            <a:spAutoFit/>
          </a:bodyPr>
          <a:lstStyle/>
          <a:p>
            <a:pPr algn="ctr">
              <a:defRPr sz="1600" b="0">
                <a:solidFill>
                  <a:srgbClr val="CADCFC"/>
                </a:solidFill>
                <a:latin typeface="Calibri"/>
              </a:defRPr>
            </a:pPr>
            <a:r>
              <a:t>Does quantization noise help LLMs generalize better with limited data?</a:t>
            </a:r>
          </a:p>
        </p:txBody>
      </p:sp>
      <p:sp>
        <p:nvSpPr>
          <p:cNvPr id="5" name="Rounded Rectangle 4"/>
          <p:cNvSpPr/>
          <p:nvPr/>
        </p:nvSpPr>
        <p:spPr>
          <a:xfrm>
            <a:off x="4114800" y="2743200"/>
            <a:ext cx="4114800" cy="36576"/>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931920"/>
            <a:ext cx="9601200" cy="914400"/>
          </a:xfrm>
          <a:prstGeom prst="rect">
            <a:avLst/>
          </a:prstGeom>
          <a:noFill/>
        </p:spPr>
        <p:txBody>
          <a:bodyPr wrap="square">
            <a:spAutoFit/>
          </a:bodyPr>
          <a:lstStyle/>
          <a:p>
            <a:pPr algn="ctr">
              <a:defRPr sz="2000" b="1">
                <a:solidFill>
                  <a:srgbClr val="1E2761"/>
                </a:solidFill>
                <a:latin typeface="Georgia"/>
              </a:defRPr>
            </a:pPr>
            <a:r>
              <a:t>Armaan Rehman Shah  &amp;  Burhanuddin Dalal</a:t>
            </a:r>
          </a:p>
        </p:txBody>
      </p:sp>
      <p:sp>
        <p:nvSpPr>
          <p:cNvPr id="7" name="TextBox 6"/>
          <p:cNvSpPr txBox="1"/>
          <p:nvPr/>
        </p:nvSpPr>
        <p:spPr>
          <a:xfrm>
            <a:off x="1371600" y="4663440"/>
            <a:ext cx="9601200" cy="457200"/>
          </a:xfrm>
          <a:prstGeom prst="rect">
            <a:avLst/>
          </a:prstGeom>
          <a:noFill/>
        </p:spPr>
        <p:txBody>
          <a:bodyPr wrap="square">
            <a:spAutoFit/>
          </a:bodyPr>
          <a:lstStyle/>
          <a:p>
            <a:pPr algn="ctr">
              <a:defRPr sz="1300" b="0">
                <a:solidFill>
                  <a:srgbClr val="666666"/>
                </a:solidFill>
                <a:latin typeface="Calibri"/>
              </a:defRPr>
            </a:pPr>
            <a:r>
              <a:t>STAD68H3  •  Department of Statistical Sciences  •  University of Toronto Scarborough</a:t>
            </a:r>
          </a:p>
        </p:txBody>
      </p:sp>
      <p:sp>
        <p:nvSpPr>
          <p:cNvPr id="8" name="TextBox 7"/>
          <p:cNvSpPr txBox="1"/>
          <p:nvPr/>
        </p:nvSpPr>
        <p:spPr>
          <a:xfrm>
            <a:off x="1371600" y="5212080"/>
            <a:ext cx="9601200" cy="365760"/>
          </a:xfrm>
          <a:prstGeom prst="rect">
            <a:avLst/>
          </a:prstGeom>
          <a:noFill/>
        </p:spPr>
        <p:txBody>
          <a:bodyPr wrap="square">
            <a:spAutoFit/>
          </a:bodyPr>
          <a:lstStyle/>
          <a:p>
            <a:pPr algn="ctr">
              <a:defRPr sz="1200" b="0">
                <a:solidFill>
                  <a:srgbClr val="666666"/>
                </a:solidFill>
                <a:latin typeface="Calibri"/>
              </a:defRPr>
            </a:pPr>
            <a:r>
              <a:t>Winter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8DB1CEC-4186-1B5F-5B24-C22441A7B724}"/>
              </a:ext>
            </a:extLst>
          </p:cNvPr>
          <p:cNvPicPr>
            <a:picLocks noChangeAspect="1"/>
          </p:cNvPicPr>
          <p:nvPr/>
        </p:nvPicPr>
        <p:blipFill>
          <a:blip r:embed="rId3"/>
          <a:stretch>
            <a:fillRect/>
          </a:stretch>
        </p:blipFill>
        <p:spPr>
          <a:xfrm>
            <a:off x="1569413" y="822960"/>
            <a:ext cx="8899620" cy="5933081"/>
          </a:xfrm>
          <a:prstGeom prst="rect">
            <a:avLst/>
          </a:prstGeom>
        </p:spPr>
      </p:pic>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800" b="1">
                <a:solidFill>
                  <a:srgbClr val="FFFFFF"/>
                </a:solidFill>
                <a:latin typeface="Georgia"/>
              </a:defRPr>
            </a:pPr>
            <a:r>
              <a:rPr dirty="0"/>
              <a:t>The Challenge: Fine-Tuning LLMs with Limited Data</a:t>
            </a:r>
          </a:p>
        </p:txBody>
      </p:sp>
      <p:pic>
        <p:nvPicPr>
          <p:cNvPr id="9" name="Picture 8">
            <a:extLst>
              <a:ext uri="{FF2B5EF4-FFF2-40B4-BE49-F238E27FC236}">
                <a16:creationId xmlns:a16="http://schemas.microsoft.com/office/drawing/2014/main" id="{2F149216-8461-17F1-83DF-1049A2CAE383}"/>
              </a:ext>
            </a:extLst>
          </p:cNvPr>
          <p:cNvPicPr>
            <a:picLocks noChangeAspect="1"/>
          </p:cNvPicPr>
          <p:nvPr/>
        </p:nvPicPr>
        <p:blipFill>
          <a:blip r:embed="rId4"/>
          <a:srcRect l="7550"/>
          <a:stretch>
            <a:fillRect/>
          </a:stretch>
        </p:blipFill>
        <p:spPr>
          <a:xfrm>
            <a:off x="9006214" y="5594211"/>
            <a:ext cx="3185786" cy="1263789"/>
          </a:xfrm>
          <a:prstGeom prst="rect">
            <a:avLst/>
          </a:prstGeom>
        </p:spPr>
      </p:pic>
      <p:pic>
        <p:nvPicPr>
          <p:cNvPr id="1032" name="Picture 8" descr="Dollar Sign Images – Browse 1,545,011 Stock Photos, Vectors, and Video |  Adobe Stock">
            <a:extLst>
              <a:ext uri="{FF2B5EF4-FFF2-40B4-BE49-F238E27FC236}">
                <a16:creationId xmlns:a16="http://schemas.microsoft.com/office/drawing/2014/main" id="{A2BB36FA-46D6-592B-99BA-56E62B17DAA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4590789" y="2761092"/>
            <a:ext cx="206679" cy="37766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Dollar Sign Images – Browse 1,545,011 Stock Photos, Vectors, and Video |  Adobe Stock">
            <a:extLst>
              <a:ext uri="{FF2B5EF4-FFF2-40B4-BE49-F238E27FC236}">
                <a16:creationId xmlns:a16="http://schemas.microsoft.com/office/drawing/2014/main" id="{622F6C94-22D4-3291-15BB-EAB9EC3AAD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4797468" y="2761092"/>
            <a:ext cx="206679" cy="3776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Dollar Sign Images – Browse 1,545,011 Stock Photos, Vectors, and Video |  Adobe Stock">
            <a:extLst>
              <a:ext uri="{FF2B5EF4-FFF2-40B4-BE49-F238E27FC236}">
                <a16:creationId xmlns:a16="http://schemas.microsoft.com/office/drawing/2014/main" id="{8C6C829C-0FE3-FB81-602B-138FE077FE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5004147" y="2761092"/>
            <a:ext cx="206679" cy="3776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Dollar Sign Images – Browse 1,545,011 Stock Photos, Vectors, and Video |  Adobe Stock">
            <a:extLst>
              <a:ext uri="{FF2B5EF4-FFF2-40B4-BE49-F238E27FC236}">
                <a16:creationId xmlns:a16="http://schemas.microsoft.com/office/drawing/2014/main" id="{A0D22B36-A4C9-68A9-D132-FF78711CFA8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6806534" y="2761092"/>
            <a:ext cx="206679" cy="37766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Dollar Sign Images – Browse 1,545,011 Stock Photos, Vectors, and Video |  Adobe Stock">
            <a:extLst>
              <a:ext uri="{FF2B5EF4-FFF2-40B4-BE49-F238E27FC236}">
                <a16:creationId xmlns:a16="http://schemas.microsoft.com/office/drawing/2014/main" id="{346728C0-1BF8-E56F-D265-3D963115492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7013213" y="2761092"/>
            <a:ext cx="206679" cy="37766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Dollar Sign Images – Browse 1,545,011 Stock Photos, Vectors, and Video |  Adobe Stock">
            <a:extLst>
              <a:ext uri="{FF2B5EF4-FFF2-40B4-BE49-F238E27FC236}">
                <a16:creationId xmlns:a16="http://schemas.microsoft.com/office/drawing/2014/main" id="{D5F9F642-C234-043B-5435-87091831F2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68" r="19706"/>
          <a:stretch>
            <a:fillRect/>
          </a:stretch>
        </p:blipFill>
        <p:spPr bwMode="auto">
          <a:xfrm>
            <a:off x="7219892" y="2761092"/>
            <a:ext cx="206679" cy="3776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Background: Fine-Tuning a Large Language Model</a:t>
            </a:r>
          </a:p>
        </p:txBody>
      </p:sp>
      <p:sp>
        <p:nvSpPr>
          <p:cNvPr id="4" name="TextBox 3"/>
          <p:cNvSpPr txBox="1"/>
          <p:nvPr/>
        </p:nvSpPr>
        <p:spPr>
          <a:xfrm>
            <a:off x="731520" y="1005840"/>
            <a:ext cx="5943600" cy="4626908"/>
          </a:xfrm>
          <a:prstGeom prst="rect">
            <a:avLst/>
          </a:prstGeom>
          <a:noFill/>
        </p:spPr>
        <p:txBody>
          <a:bodyPr wrap="square">
            <a:spAutoFit/>
          </a:bodyPr>
          <a:lstStyle/>
          <a:p>
            <a:pPr algn="l">
              <a:spcAft>
                <a:spcPts val="400"/>
              </a:spcAft>
            </a:pPr>
            <a:r>
              <a:rPr sz="2400" b="1" dirty="0">
                <a:solidFill>
                  <a:srgbClr val="1E2761"/>
                </a:solidFill>
                <a:latin typeface="Georgia"/>
              </a:rPr>
              <a:t>What is fine-tuning?</a:t>
            </a:r>
            <a:endParaRPr lang="en-US" sz="2400" b="1" dirty="0">
              <a:solidFill>
                <a:srgbClr val="1E2761"/>
              </a:solidFill>
              <a:latin typeface="Georgia"/>
            </a:endParaRPr>
          </a:p>
          <a:p>
            <a:pPr algn="l">
              <a:spcAft>
                <a:spcPts val="400"/>
              </a:spcAft>
            </a:pPr>
            <a:endParaRPr sz="2400" b="1" dirty="0">
              <a:solidFill>
                <a:srgbClr val="1E2761"/>
              </a:solidFill>
              <a:latin typeface="Georgia"/>
            </a:endParaRPr>
          </a:p>
          <a:p>
            <a:pPr algn="l">
              <a:spcAft>
                <a:spcPts val="400"/>
              </a:spcAft>
            </a:pPr>
            <a:r>
              <a:rPr b="1" dirty="0">
                <a:solidFill>
                  <a:srgbClr val="1E2761"/>
                </a:solidFill>
                <a:latin typeface="Calibri"/>
              </a:rPr>
              <a:t>Fine-tuning </a:t>
            </a:r>
            <a:r>
              <a:rPr b="0" dirty="0">
                <a:solidFill>
                  <a:srgbClr val="333333"/>
                </a:solidFill>
                <a:latin typeface="Calibri"/>
              </a:rPr>
              <a:t>= training </a:t>
            </a:r>
            <a:r>
              <a:rPr lang="en-US" b="0" dirty="0">
                <a:solidFill>
                  <a:srgbClr val="333333"/>
                </a:solidFill>
                <a:latin typeface="Calibri"/>
              </a:rPr>
              <a:t>a general LLM (Ex: GPT or </a:t>
            </a:r>
            <a:r>
              <a:rPr lang="en-US" b="0" dirty="0" err="1">
                <a:solidFill>
                  <a:srgbClr val="333333"/>
                </a:solidFill>
                <a:latin typeface="Calibri"/>
              </a:rPr>
              <a:t>LLaMA</a:t>
            </a:r>
            <a:r>
              <a:rPr lang="en-US" b="0" dirty="0">
                <a:solidFill>
                  <a:srgbClr val="333333"/>
                </a:solidFill>
                <a:latin typeface="Calibri"/>
              </a:rPr>
              <a:t>) </a:t>
            </a:r>
            <a:r>
              <a:rPr b="0" dirty="0">
                <a:solidFill>
                  <a:srgbClr val="333333"/>
                </a:solidFill>
                <a:latin typeface="Calibri"/>
              </a:rPr>
              <a:t>further on a small, task-specific dataset so it learns to follow instructions, answer questions, etc.</a:t>
            </a:r>
          </a:p>
          <a:p>
            <a:pPr algn="l">
              <a:spcAft>
                <a:spcPts val="400"/>
              </a:spcAft>
            </a:pPr>
            <a:endParaRPr b="0" dirty="0">
              <a:solidFill>
                <a:srgbClr val="333333"/>
              </a:solidFill>
              <a:latin typeface="Calibri"/>
            </a:endParaRPr>
          </a:p>
          <a:p>
            <a:pPr algn="l">
              <a:spcAft>
                <a:spcPts val="400"/>
              </a:spcAft>
            </a:pPr>
            <a:r>
              <a:rPr sz="2000" b="1" dirty="0">
                <a:solidFill>
                  <a:srgbClr val="C0392B"/>
                </a:solidFill>
                <a:latin typeface="Georgia"/>
              </a:rPr>
              <a:t>The Problem with Full Fine-Tuning:</a:t>
            </a:r>
          </a:p>
          <a:p>
            <a:pPr algn="l">
              <a:spcAft>
                <a:spcPts val="400"/>
              </a:spcAft>
            </a:pPr>
            <a:endParaRPr sz="2000" b="1" dirty="0">
              <a:solidFill>
                <a:srgbClr val="C0392B"/>
              </a:solidFill>
              <a:latin typeface="Georgia"/>
            </a:endParaRPr>
          </a:p>
          <a:p>
            <a:pPr algn="l">
              <a:spcAft>
                <a:spcPts val="400"/>
              </a:spcAft>
            </a:pPr>
            <a:r>
              <a:rPr b="1" dirty="0">
                <a:solidFill>
                  <a:srgbClr val="333333"/>
                </a:solidFill>
                <a:latin typeface="Calibri"/>
              </a:rPr>
              <a:t>1. Memory: </a:t>
            </a:r>
            <a:r>
              <a:rPr b="0" dirty="0">
                <a:solidFill>
                  <a:srgbClr val="666666"/>
                </a:solidFill>
                <a:latin typeface="Calibri"/>
              </a:rPr>
              <a:t>A 7B model needs ~14GB just for weights + optimizer states</a:t>
            </a:r>
          </a:p>
          <a:p>
            <a:pPr algn="l">
              <a:spcAft>
                <a:spcPts val="400"/>
              </a:spcAft>
            </a:pPr>
            <a:r>
              <a:rPr b="1" dirty="0">
                <a:solidFill>
                  <a:srgbClr val="333333"/>
                </a:solidFill>
                <a:latin typeface="Calibri"/>
              </a:rPr>
              <a:t>2. Overfitting: </a:t>
            </a:r>
            <a:r>
              <a:rPr b="0" dirty="0">
                <a:solidFill>
                  <a:srgbClr val="666666"/>
                </a:solidFill>
                <a:latin typeface="Calibri"/>
              </a:rPr>
              <a:t>With only 100-5000 examples, the model memorizes rather than learns</a:t>
            </a:r>
          </a:p>
          <a:p>
            <a:pPr algn="l">
              <a:spcAft>
                <a:spcPts val="400"/>
              </a:spcAft>
            </a:pPr>
            <a:r>
              <a:rPr b="1" dirty="0">
                <a:solidFill>
                  <a:srgbClr val="333333"/>
                </a:solidFill>
                <a:latin typeface="Calibri"/>
              </a:rPr>
              <a:t>3. Cost: </a:t>
            </a:r>
            <a:r>
              <a:rPr b="0" dirty="0">
                <a:solidFill>
                  <a:srgbClr val="666666"/>
                </a:solidFill>
                <a:latin typeface="Calibri"/>
              </a:rPr>
              <a:t>Updating billions of parameters is computationally expensive</a:t>
            </a:r>
          </a:p>
        </p:txBody>
      </p:sp>
      <p:sp>
        <p:nvSpPr>
          <p:cNvPr id="5" name="Rounded Rectangle 4"/>
          <p:cNvSpPr/>
          <p:nvPr/>
        </p:nvSpPr>
        <p:spPr>
          <a:xfrm>
            <a:off x="7132320" y="1188720"/>
            <a:ext cx="4389120" cy="4572000"/>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0" y="1407934"/>
            <a:ext cx="3657600" cy="4042132"/>
          </a:xfrm>
          <a:prstGeom prst="rect">
            <a:avLst/>
          </a:prstGeom>
          <a:noFill/>
        </p:spPr>
        <p:txBody>
          <a:bodyPr wrap="square">
            <a:spAutoFit/>
          </a:bodyPr>
          <a:lstStyle/>
          <a:p>
            <a:pPr algn="ctr">
              <a:spcAft>
                <a:spcPts val="400"/>
              </a:spcAft>
            </a:pPr>
            <a:r>
              <a:rPr b="1" dirty="0">
                <a:solidFill>
                  <a:srgbClr val="1E2761"/>
                </a:solidFill>
                <a:latin typeface="Georgia"/>
              </a:rPr>
              <a:t>Pre-trained LLM</a:t>
            </a:r>
          </a:p>
          <a:p>
            <a:pPr algn="ctr">
              <a:spcAft>
                <a:spcPts val="400"/>
              </a:spcAft>
            </a:pPr>
            <a:r>
              <a:rPr sz="1400" b="0" dirty="0">
                <a:solidFill>
                  <a:srgbClr val="666666"/>
                </a:solidFill>
                <a:latin typeface="Calibri"/>
              </a:rPr>
              <a:t>Knows general language</a:t>
            </a:r>
          </a:p>
          <a:p>
            <a:pPr algn="ctr">
              <a:spcAft>
                <a:spcPts val="400"/>
              </a:spcAft>
            </a:pPr>
            <a:endParaRPr sz="1400" b="0" dirty="0">
              <a:solidFill>
                <a:srgbClr val="666666"/>
              </a:solidFill>
              <a:latin typeface="Calibri"/>
            </a:endParaRPr>
          </a:p>
          <a:p>
            <a:pPr algn="ctr">
              <a:spcAft>
                <a:spcPts val="400"/>
              </a:spcAft>
            </a:pPr>
            <a:r>
              <a:rPr sz="2400" b="1" dirty="0">
                <a:solidFill>
                  <a:srgbClr val="C0392B"/>
                </a:solidFill>
                <a:latin typeface="Calibri"/>
              </a:rPr>
              <a:t>+</a:t>
            </a:r>
          </a:p>
          <a:p>
            <a:pPr algn="ctr">
              <a:spcAft>
                <a:spcPts val="400"/>
              </a:spcAft>
            </a:pPr>
            <a:endParaRPr sz="2400" b="1" dirty="0">
              <a:solidFill>
                <a:srgbClr val="C0392B"/>
              </a:solidFill>
              <a:latin typeface="Calibri"/>
            </a:endParaRPr>
          </a:p>
          <a:p>
            <a:pPr algn="ctr">
              <a:spcAft>
                <a:spcPts val="400"/>
              </a:spcAft>
            </a:pPr>
            <a:r>
              <a:rPr b="1" dirty="0">
                <a:solidFill>
                  <a:srgbClr val="C0392B"/>
                </a:solidFill>
                <a:latin typeface="Georgia"/>
              </a:rPr>
              <a:t>Small Task Dataset</a:t>
            </a:r>
          </a:p>
          <a:p>
            <a:pPr algn="ctr">
              <a:spcAft>
                <a:spcPts val="400"/>
              </a:spcAft>
            </a:pPr>
            <a:r>
              <a:rPr sz="1400" b="0" dirty="0">
                <a:solidFill>
                  <a:srgbClr val="666666"/>
                </a:solidFill>
                <a:latin typeface="Calibri"/>
              </a:rPr>
              <a:t>100 - 5,000 examples</a:t>
            </a:r>
          </a:p>
          <a:p>
            <a:pPr algn="ctr">
              <a:spcAft>
                <a:spcPts val="400"/>
              </a:spcAft>
            </a:pPr>
            <a:endParaRPr sz="1400" b="0" dirty="0">
              <a:solidFill>
                <a:srgbClr val="666666"/>
              </a:solidFill>
              <a:latin typeface="Calibri"/>
            </a:endParaRPr>
          </a:p>
          <a:p>
            <a:pPr algn="ctr">
              <a:spcAft>
                <a:spcPts val="400"/>
              </a:spcAft>
            </a:pPr>
            <a:r>
              <a:rPr sz="2400" b="1" dirty="0">
                <a:solidFill>
                  <a:srgbClr val="27AE60"/>
                </a:solidFill>
                <a:latin typeface="Calibri"/>
              </a:rPr>
              <a:t>=</a:t>
            </a:r>
          </a:p>
          <a:p>
            <a:pPr algn="ctr">
              <a:spcAft>
                <a:spcPts val="400"/>
              </a:spcAft>
            </a:pPr>
            <a:endParaRPr sz="2400" b="1" dirty="0">
              <a:solidFill>
                <a:srgbClr val="27AE60"/>
              </a:solidFill>
              <a:latin typeface="Calibri"/>
            </a:endParaRPr>
          </a:p>
          <a:p>
            <a:pPr algn="ctr">
              <a:spcAft>
                <a:spcPts val="400"/>
              </a:spcAft>
            </a:pPr>
            <a:r>
              <a:rPr b="1" dirty="0">
                <a:solidFill>
                  <a:srgbClr val="27AE60"/>
                </a:solidFill>
                <a:latin typeface="Georgia"/>
              </a:rPr>
              <a:t>Specialized Model</a:t>
            </a:r>
          </a:p>
          <a:p>
            <a:pPr algn="ctr">
              <a:spcAft>
                <a:spcPts val="400"/>
              </a:spcAft>
            </a:pPr>
            <a:r>
              <a:rPr sz="1400" b="0" dirty="0">
                <a:solidFill>
                  <a:srgbClr val="666666"/>
                </a:solidFill>
                <a:latin typeface="Calibri"/>
              </a:rPr>
              <a:t>Follows your instructions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Background: LoRA — Low-Rank Adaptation</a:t>
            </a:r>
          </a:p>
        </p:txBody>
      </p:sp>
      <p:pic>
        <p:nvPicPr>
          <p:cNvPr id="4" name="Picture 3" descr="lora_diagram.png"/>
          <p:cNvPicPr>
            <a:picLocks noChangeAspect="1"/>
          </p:cNvPicPr>
          <p:nvPr/>
        </p:nvPicPr>
        <p:blipFill>
          <a:blip r:embed="rId3"/>
          <a:stretch>
            <a:fillRect/>
          </a:stretch>
        </p:blipFill>
        <p:spPr>
          <a:xfrm>
            <a:off x="457200" y="914400"/>
            <a:ext cx="7315200" cy="4130736"/>
          </a:xfrm>
          <a:prstGeom prst="rect">
            <a:avLst/>
          </a:prstGeom>
        </p:spPr>
      </p:pic>
      <p:sp>
        <p:nvSpPr>
          <p:cNvPr id="5" name="Rounded Rectangle 4"/>
          <p:cNvSpPr/>
          <p:nvPr/>
        </p:nvSpPr>
        <p:spPr>
          <a:xfrm>
            <a:off x="8144933" y="1441465"/>
            <a:ext cx="3657600" cy="2743200"/>
          </a:xfrm>
          <a:prstGeom prst="roundRect">
            <a:avLst/>
          </a:prstGeom>
          <a:solidFill>
            <a:srgbClr val="E8F5E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9253" y="1624345"/>
            <a:ext cx="3200400" cy="2251899"/>
          </a:xfrm>
          <a:prstGeom prst="rect">
            <a:avLst/>
          </a:prstGeom>
          <a:noFill/>
        </p:spPr>
        <p:txBody>
          <a:bodyPr wrap="square">
            <a:spAutoFit/>
          </a:bodyPr>
          <a:lstStyle/>
          <a:p>
            <a:pPr algn="l">
              <a:spcAft>
                <a:spcPts val="400"/>
              </a:spcAft>
            </a:pPr>
            <a:r>
              <a:rPr sz="1300" b="1" dirty="0">
                <a:solidFill>
                  <a:srgbClr val="27AE60"/>
                </a:solidFill>
                <a:latin typeface="Georgia"/>
              </a:rPr>
              <a:t>Key Insight</a:t>
            </a:r>
          </a:p>
          <a:p>
            <a:pPr algn="l">
              <a:spcAft>
                <a:spcPts val="400"/>
              </a:spcAft>
            </a:pPr>
            <a:endParaRPr sz="1300" b="1" dirty="0">
              <a:solidFill>
                <a:srgbClr val="27AE60"/>
              </a:solidFill>
              <a:latin typeface="Georgia"/>
            </a:endParaRPr>
          </a:p>
          <a:p>
            <a:pPr algn="l">
              <a:spcAft>
                <a:spcPts val="400"/>
              </a:spcAft>
            </a:pPr>
            <a:r>
              <a:rPr sz="1300" b="0" dirty="0">
                <a:solidFill>
                  <a:srgbClr val="333333"/>
                </a:solidFill>
                <a:latin typeface="Calibri"/>
              </a:rPr>
              <a:t>Instead of updating ALL 7 billion parameters, </a:t>
            </a:r>
            <a:r>
              <a:rPr sz="1300" b="0" dirty="0" err="1">
                <a:solidFill>
                  <a:srgbClr val="333333"/>
                </a:solidFill>
                <a:latin typeface="Calibri"/>
              </a:rPr>
              <a:t>LoRA</a:t>
            </a:r>
            <a:r>
              <a:rPr sz="1300" b="0" dirty="0">
                <a:solidFill>
                  <a:srgbClr val="333333"/>
                </a:solidFill>
                <a:latin typeface="Calibri"/>
              </a:rPr>
              <a:t> only trains ~0.1% of them!</a:t>
            </a:r>
          </a:p>
          <a:p>
            <a:pPr algn="l">
              <a:spcAft>
                <a:spcPts val="400"/>
              </a:spcAft>
            </a:pPr>
            <a:endParaRPr sz="1300" b="0" dirty="0">
              <a:solidFill>
                <a:srgbClr val="333333"/>
              </a:solidFill>
              <a:latin typeface="Calibri"/>
            </a:endParaRPr>
          </a:p>
          <a:p>
            <a:pPr algn="l">
              <a:spcAft>
                <a:spcPts val="400"/>
              </a:spcAft>
            </a:pPr>
            <a:r>
              <a:rPr sz="1300" b="1" dirty="0">
                <a:solidFill>
                  <a:srgbClr val="333333"/>
                </a:solidFill>
                <a:latin typeface="Calibri"/>
              </a:rPr>
              <a:t>Rank</a:t>
            </a:r>
            <a:r>
              <a:rPr lang="en-US" sz="1300" b="1" dirty="0">
                <a:solidFill>
                  <a:srgbClr val="333333"/>
                </a:solidFill>
                <a:latin typeface="Calibri"/>
              </a:rPr>
              <a:t> (r)</a:t>
            </a:r>
            <a:r>
              <a:rPr sz="1300" b="1" dirty="0">
                <a:solidFill>
                  <a:srgbClr val="333333"/>
                </a:solidFill>
                <a:latin typeface="Calibri"/>
              </a:rPr>
              <a:t> controls capacity:</a:t>
            </a:r>
          </a:p>
          <a:p>
            <a:pPr algn="l">
              <a:spcAft>
                <a:spcPts val="400"/>
              </a:spcAft>
            </a:pPr>
            <a:r>
              <a:rPr sz="1300" b="0" dirty="0">
                <a:solidFill>
                  <a:srgbClr val="666666"/>
                </a:solidFill>
                <a:latin typeface="Calibri"/>
              </a:rPr>
              <a:t>r=4:  6.7M params</a:t>
            </a:r>
          </a:p>
          <a:p>
            <a:pPr algn="l">
              <a:spcAft>
                <a:spcPts val="400"/>
              </a:spcAft>
            </a:pPr>
            <a:r>
              <a:rPr sz="1300" b="0" dirty="0">
                <a:solidFill>
                  <a:srgbClr val="666666"/>
                </a:solidFill>
                <a:latin typeface="Calibri"/>
              </a:rPr>
              <a:t>r=16: 13.4M params</a:t>
            </a:r>
          </a:p>
          <a:p>
            <a:pPr algn="l">
              <a:spcAft>
                <a:spcPts val="400"/>
              </a:spcAft>
            </a:pPr>
            <a:r>
              <a:rPr sz="1300" b="0" dirty="0">
                <a:solidFill>
                  <a:srgbClr val="666666"/>
                </a:solidFill>
                <a:latin typeface="Calibri"/>
              </a:rPr>
              <a:t>r=64: 22.0M params</a:t>
            </a:r>
          </a:p>
        </p:txBody>
      </p:sp>
      <p:pic>
        <p:nvPicPr>
          <p:cNvPr id="7" name="Picture 6" descr="lora_eq.png"/>
          <p:cNvPicPr>
            <a:picLocks noChangeAspect="1"/>
          </p:cNvPicPr>
          <p:nvPr/>
        </p:nvPicPr>
        <p:blipFill>
          <a:blip r:embed="rId4"/>
          <a:stretch>
            <a:fillRect/>
          </a:stretch>
        </p:blipFill>
        <p:spPr>
          <a:xfrm>
            <a:off x="845507" y="4888805"/>
            <a:ext cx="6400800" cy="1091641"/>
          </a:xfrm>
          <a:prstGeom prst="rect">
            <a:avLst/>
          </a:prstGeom>
        </p:spPr>
      </p:pic>
      <p:sp>
        <p:nvSpPr>
          <p:cNvPr id="8" name="TextBox 7"/>
          <p:cNvSpPr txBox="1"/>
          <p:nvPr/>
        </p:nvSpPr>
        <p:spPr>
          <a:xfrm>
            <a:off x="845507" y="5826557"/>
            <a:ext cx="10058400" cy="307777"/>
          </a:xfrm>
          <a:prstGeom prst="rect">
            <a:avLst/>
          </a:prstGeom>
          <a:noFill/>
        </p:spPr>
        <p:txBody>
          <a:bodyPr wrap="square">
            <a:spAutoFit/>
          </a:bodyPr>
          <a:lstStyle/>
          <a:p>
            <a:pPr algn="l">
              <a:defRPr sz="1200" b="0">
                <a:solidFill>
                  <a:srgbClr val="666666"/>
                </a:solidFill>
                <a:latin typeface="Calibri"/>
              </a:defRPr>
            </a:pPr>
            <a:r>
              <a:rPr sz="1400" dirty="0" err="1"/>
              <a:t>LoRA</a:t>
            </a:r>
            <a:r>
              <a:rPr sz="1400" dirty="0"/>
              <a:t> itself acts as a </a:t>
            </a:r>
            <a:r>
              <a:rPr sz="1400" dirty="0" err="1"/>
              <a:t>regularizer</a:t>
            </a:r>
            <a:r>
              <a:rPr lang="en-US" sz="1400" dirty="0"/>
              <a:t>:</a:t>
            </a:r>
            <a:r>
              <a:rPr sz="1400" dirty="0"/>
              <a:t> by restricting updates to a low-dimensional subspace</a:t>
            </a:r>
          </a:p>
        </p:txBody>
      </p:sp>
      <p:sp>
        <p:nvSpPr>
          <p:cNvPr id="11" name="TextBox 10">
            <a:extLst>
              <a:ext uri="{FF2B5EF4-FFF2-40B4-BE49-F238E27FC236}">
                <a16:creationId xmlns:a16="http://schemas.microsoft.com/office/drawing/2014/main" id="{5BCCD54D-0B58-8720-0CE9-E1DEBBC77773}"/>
              </a:ext>
            </a:extLst>
          </p:cNvPr>
          <p:cNvSpPr txBox="1"/>
          <p:nvPr/>
        </p:nvSpPr>
        <p:spPr>
          <a:xfrm>
            <a:off x="6097693" y="1101125"/>
            <a:ext cx="1456267" cy="523220"/>
          </a:xfrm>
          <a:prstGeom prst="rect">
            <a:avLst/>
          </a:prstGeom>
          <a:noFill/>
        </p:spPr>
        <p:txBody>
          <a:bodyPr wrap="square">
            <a:spAutoFit/>
          </a:bodyPr>
          <a:lstStyle/>
          <a:p>
            <a:r>
              <a:rPr lang="fr-FR" sz="1400" dirty="0">
                <a:solidFill>
                  <a:srgbClr val="666666"/>
                </a:solidFill>
                <a:latin typeface="Calibri"/>
              </a:rPr>
              <a:t>Hu et al., 2021</a:t>
            </a:r>
          </a:p>
          <a:p>
            <a:r>
              <a:rPr lang="fr-FR" sz="1400" dirty="0">
                <a:solidFill>
                  <a:srgbClr val="666666"/>
                </a:solidFill>
                <a:latin typeface="Calibri"/>
              </a:rPr>
              <a:t>(</a:t>
            </a:r>
            <a:r>
              <a:rPr lang="fr-FR" sz="1400" dirty="0" err="1">
                <a:solidFill>
                  <a:srgbClr val="666666"/>
                </a:solidFill>
              </a:rPr>
              <a:t>LoRA</a:t>
            </a:r>
            <a:r>
              <a:rPr lang="fr-FR" sz="1400" dirty="0">
                <a:solidFill>
                  <a:srgbClr val="666666"/>
                </a:solidFill>
              </a:rPr>
              <a:t>)</a:t>
            </a:r>
            <a:endParaRPr lang="en-US" sz="1400" dirty="0">
              <a:solidFill>
                <a:srgbClr val="666666"/>
              </a:solidFill>
              <a:latin typeface="Calibri"/>
            </a:endParaRPr>
          </a:p>
        </p:txBody>
      </p:sp>
      <p:pic>
        <p:nvPicPr>
          <p:cNvPr id="12" name="Picture 11">
            <a:extLst>
              <a:ext uri="{FF2B5EF4-FFF2-40B4-BE49-F238E27FC236}">
                <a16:creationId xmlns:a16="http://schemas.microsoft.com/office/drawing/2014/main" id="{B34108CF-1A7E-F585-DE52-FECB663082FC}"/>
              </a:ext>
            </a:extLst>
          </p:cNvPr>
          <p:cNvPicPr>
            <a:picLocks noChangeAspect="1"/>
          </p:cNvPicPr>
          <p:nvPr/>
        </p:nvPicPr>
        <p:blipFill>
          <a:blip r:embed="rId5"/>
          <a:stretch>
            <a:fillRect/>
          </a:stretch>
        </p:blipFill>
        <p:spPr>
          <a:xfrm>
            <a:off x="1645096" y="4875914"/>
            <a:ext cx="1698859" cy="3384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449001C-D31A-001F-B6AF-93BBC7824187}"/>
              </a:ext>
            </a:extLst>
          </p:cNvPr>
          <p:cNvPicPr>
            <a:picLocks noChangeAspect="1"/>
          </p:cNvPicPr>
          <p:nvPr/>
        </p:nvPicPr>
        <p:blipFill>
          <a:blip r:embed="rId3"/>
          <a:srcRect t="12000" b="81259"/>
          <a:stretch>
            <a:fillRect/>
          </a:stretch>
        </p:blipFill>
        <p:spPr>
          <a:xfrm>
            <a:off x="960120" y="885612"/>
            <a:ext cx="10287000" cy="462280"/>
          </a:xfrm>
          <a:prstGeom prst="rect">
            <a:avLst/>
          </a:prstGeom>
        </p:spPr>
      </p:pic>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Background: Quantization — Compressing Model Weights</a:t>
            </a:r>
          </a:p>
        </p:txBody>
      </p:sp>
      <p:pic>
        <p:nvPicPr>
          <p:cNvPr id="5" name="Picture 4" descr="quant_eq.png"/>
          <p:cNvPicPr>
            <a:picLocks noChangeAspect="1"/>
          </p:cNvPicPr>
          <p:nvPr/>
        </p:nvPicPr>
        <p:blipFill>
          <a:blip r:embed="rId4"/>
          <a:stretch>
            <a:fillRect/>
          </a:stretch>
        </p:blipFill>
        <p:spPr>
          <a:xfrm>
            <a:off x="2208528" y="4117094"/>
            <a:ext cx="7774941" cy="1325996"/>
          </a:xfrm>
          <a:prstGeom prst="rect">
            <a:avLst/>
          </a:prstGeom>
        </p:spPr>
      </p:pic>
      <p:sp>
        <p:nvSpPr>
          <p:cNvPr id="6" name="Rounded Rectangle 5"/>
          <p:cNvSpPr/>
          <p:nvPr/>
        </p:nvSpPr>
        <p:spPr>
          <a:xfrm>
            <a:off x="701040" y="5376073"/>
            <a:ext cx="10789920" cy="914400"/>
          </a:xfrm>
          <a:prstGeom prst="roundRect">
            <a:avLst/>
          </a:prstGeom>
          <a:solidFill>
            <a:srgbClr val="FFF8E1"/>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9640" y="5510107"/>
            <a:ext cx="10332720" cy="646331"/>
          </a:xfrm>
          <a:prstGeom prst="rect">
            <a:avLst/>
          </a:prstGeom>
          <a:noFill/>
        </p:spPr>
        <p:txBody>
          <a:bodyPr wrap="square">
            <a:spAutoFit/>
          </a:bodyPr>
          <a:lstStyle/>
          <a:p>
            <a:pPr algn="l">
              <a:spcAft>
                <a:spcPts val="400"/>
              </a:spcAft>
            </a:pPr>
            <a:r>
              <a:rPr b="1" dirty="0">
                <a:solidFill>
                  <a:srgbClr val="E67E22"/>
                </a:solidFill>
                <a:latin typeface="Calibri"/>
              </a:rPr>
              <a:t>Think of it like this: </a:t>
            </a:r>
            <a:r>
              <a:rPr b="0" dirty="0">
                <a:solidFill>
                  <a:srgbClr val="333333"/>
                </a:solidFill>
                <a:latin typeface="Calibri"/>
              </a:rPr>
              <a:t>Quantization rounds each weight to the nearest allowed value, introducing small errors (noise). Lower bit-width = more rounding = more noise.</a:t>
            </a:r>
          </a:p>
        </p:txBody>
      </p:sp>
      <p:pic>
        <p:nvPicPr>
          <p:cNvPr id="13" name="Picture 12">
            <a:extLst>
              <a:ext uri="{FF2B5EF4-FFF2-40B4-BE49-F238E27FC236}">
                <a16:creationId xmlns:a16="http://schemas.microsoft.com/office/drawing/2014/main" id="{FA0AE758-3ED1-1DC9-1FC0-C2CDA0E88BBE}"/>
              </a:ext>
            </a:extLst>
          </p:cNvPr>
          <p:cNvPicPr>
            <a:picLocks noChangeAspect="1"/>
          </p:cNvPicPr>
          <p:nvPr/>
        </p:nvPicPr>
        <p:blipFill>
          <a:blip r:embed="rId3"/>
          <a:srcRect t="23704" b="48546"/>
          <a:stretch>
            <a:fillRect/>
          </a:stretch>
        </p:blipFill>
        <p:spPr>
          <a:xfrm>
            <a:off x="1390650" y="1481927"/>
            <a:ext cx="9105900" cy="168460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97521C4-8C72-B33D-6E10-5A146B46CC87}"/>
                  </a:ext>
                </a:extLst>
              </p:cNvPr>
              <p:cNvSpPr txBox="1"/>
              <p:nvPr/>
            </p:nvSpPr>
            <p:spPr>
              <a:xfrm>
                <a:off x="3026832" y="4089276"/>
                <a:ext cx="6138335" cy="338554"/>
              </a:xfrm>
              <a:prstGeom prst="rect">
                <a:avLst/>
              </a:prstGeom>
              <a:noFill/>
            </p:spPr>
            <p:txBody>
              <a:bodyPr wrap="square">
                <a:spAutoFit/>
              </a:bodyPr>
              <a:lstStyle/>
              <a:p>
                <a:pPr algn="l">
                  <a:spcAft>
                    <a:spcPts val="400"/>
                  </a:spcAft>
                </a:pPr>
                <a:r>
                  <a:rPr lang="en-US" sz="1600" b="1" dirty="0">
                    <a:solidFill>
                      <a:srgbClr val="333333"/>
                    </a:solidFill>
                    <a:latin typeface="Calibri"/>
                  </a:rPr>
                  <a:t>A scalar weight </a:t>
                </a:r>
                <a14:m>
                  <m:oMath xmlns:m="http://schemas.openxmlformats.org/officeDocument/2006/math">
                    <m:r>
                      <a:rPr lang="en-US" sz="1600" b="1" i="1">
                        <a:solidFill>
                          <a:srgbClr val="333333"/>
                        </a:solidFill>
                        <a:latin typeface="Cambria Math" panose="02040503050406030204" pitchFamily="18" charset="0"/>
                      </a:rPr>
                      <m:t>𝐰</m:t>
                    </m:r>
                  </m:oMath>
                </a14:m>
                <a:r>
                  <a:rPr lang="en-US" sz="1600" b="1" dirty="0">
                    <a:solidFill>
                      <a:srgbClr val="333333"/>
                    </a:solidFill>
                    <a:latin typeface="Calibri"/>
                  </a:rPr>
                  <a:t> is quantized with step size </a:t>
                </a:r>
                <a14:m>
                  <m:oMath xmlns:m="http://schemas.openxmlformats.org/officeDocument/2006/math">
                    <m:r>
                      <a:rPr lang="en-US" sz="1600" b="1" i="1" smtClean="0">
                        <a:solidFill>
                          <a:srgbClr val="333333"/>
                        </a:solidFill>
                        <a:latin typeface="Cambria Math" panose="02040503050406030204" pitchFamily="18" charset="0"/>
                      </a:rPr>
                      <m:t>𝒔</m:t>
                    </m:r>
                    <m:r>
                      <a:rPr lang="en-US" sz="1600" b="1" i="1" smtClean="0">
                        <a:solidFill>
                          <a:srgbClr val="333333"/>
                        </a:solidFill>
                        <a:latin typeface="Cambria Math" panose="02040503050406030204" pitchFamily="18" charset="0"/>
                      </a:rPr>
                      <m:t>&gt;</m:t>
                    </m:r>
                    <m:r>
                      <a:rPr lang="en-US" sz="1600" b="1" i="1" smtClean="0">
                        <a:solidFill>
                          <a:srgbClr val="333333"/>
                        </a:solidFill>
                        <a:latin typeface="Cambria Math" panose="02040503050406030204" pitchFamily="18" charset="0"/>
                      </a:rPr>
                      <m:t>𝟎</m:t>
                    </m:r>
                  </m:oMath>
                </a14:m>
                <a:r>
                  <a:rPr lang="en-US" sz="1600" b="1" dirty="0">
                    <a:solidFill>
                      <a:srgbClr val="333333"/>
                    </a:solidFill>
                    <a:latin typeface="Calibri"/>
                  </a:rPr>
                  <a:t> and bit-width </a:t>
                </a:r>
                <a14:m>
                  <m:oMath xmlns:m="http://schemas.openxmlformats.org/officeDocument/2006/math">
                    <m:r>
                      <a:rPr lang="en-US" sz="1600" b="1" i="1" smtClean="0">
                        <a:solidFill>
                          <a:srgbClr val="333333"/>
                        </a:solidFill>
                        <a:latin typeface="Cambria Math" panose="02040503050406030204" pitchFamily="18" charset="0"/>
                      </a:rPr>
                      <m:t>𝒃</m:t>
                    </m:r>
                  </m:oMath>
                </a14:m>
                <a:r>
                  <a:rPr lang="en-US" sz="1600" b="1" dirty="0">
                    <a:solidFill>
                      <a:srgbClr val="333333"/>
                    </a:solidFill>
                    <a:latin typeface="Calibri"/>
                  </a:rPr>
                  <a:t> as:  </a:t>
                </a:r>
                <a:endParaRPr sz="1600" b="1" dirty="0">
                  <a:solidFill>
                    <a:srgbClr val="333333"/>
                  </a:solidFill>
                  <a:latin typeface="Calibri"/>
                </a:endParaRPr>
              </a:p>
            </p:txBody>
          </p:sp>
        </mc:Choice>
        <mc:Fallback xmlns="">
          <p:sp>
            <p:nvSpPr>
              <p:cNvPr id="14" name="TextBox 13">
                <a:extLst>
                  <a:ext uri="{FF2B5EF4-FFF2-40B4-BE49-F238E27FC236}">
                    <a16:creationId xmlns:a16="http://schemas.microsoft.com/office/drawing/2014/main" id="{A97521C4-8C72-B33D-6E10-5A146B46CC87}"/>
                  </a:ext>
                </a:extLst>
              </p:cNvPr>
              <p:cNvSpPr txBox="1">
                <a:spLocks noRot="1" noChangeAspect="1" noMove="1" noResize="1" noEditPoints="1" noAdjustHandles="1" noChangeArrowheads="1" noChangeShapeType="1" noTextEdit="1"/>
              </p:cNvSpPr>
              <p:nvPr/>
            </p:nvSpPr>
            <p:spPr>
              <a:xfrm>
                <a:off x="3026832" y="4089276"/>
                <a:ext cx="6138335" cy="338554"/>
              </a:xfrm>
              <a:prstGeom prst="rect">
                <a:avLst/>
              </a:prstGeom>
              <a:blipFill>
                <a:blip r:embed="rId5"/>
                <a:stretch>
                  <a:fillRect l="-596" t="-5455" r="-1292" b="-2363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26C97986-7EAB-E358-E6AE-66EA7DEB9CC6}"/>
              </a:ext>
            </a:extLst>
          </p:cNvPr>
          <p:cNvPicPr>
            <a:picLocks noChangeAspect="1"/>
          </p:cNvPicPr>
          <p:nvPr/>
        </p:nvPicPr>
        <p:blipFill>
          <a:blip r:embed="rId3"/>
          <a:srcRect t="56724" b="36366"/>
          <a:stretch>
            <a:fillRect/>
          </a:stretch>
        </p:blipFill>
        <p:spPr>
          <a:xfrm>
            <a:off x="1128184" y="3219243"/>
            <a:ext cx="9105900" cy="4195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CCB8984-A7BE-ECDB-B5B1-25A7F4A98569}"/>
              </a:ext>
            </a:extLst>
          </p:cNvPr>
          <p:cNvPicPr>
            <a:picLocks noChangeAspect="1"/>
          </p:cNvPicPr>
          <p:nvPr/>
        </p:nvPicPr>
        <p:blipFill>
          <a:blip r:embed="rId3"/>
          <a:srcRect t="25358" b="42913"/>
          <a:stretch>
            <a:fillRect/>
          </a:stretch>
        </p:blipFill>
        <p:spPr>
          <a:xfrm>
            <a:off x="1014307" y="1745827"/>
            <a:ext cx="10286997" cy="2175933"/>
          </a:xfrm>
          <a:prstGeom prst="rect">
            <a:avLst/>
          </a:prstGeom>
        </p:spPr>
      </p:pic>
      <p:pic>
        <p:nvPicPr>
          <p:cNvPr id="11" name="Picture 10">
            <a:extLst>
              <a:ext uri="{FF2B5EF4-FFF2-40B4-BE49-F238E27FC236}">
                <a16:creationId xmlns:a16="http://schemas.microsoft.com/office/drawing/2014/main" id="{9003A16D-214A-CA40-9F0B-B4878D234F93}"/>
              </a:ext>
            </a:extLst>
          </p:cNvPr>
          <p:cNvPicPr>
            <a:picLocks noChangeAspect="1"/>
          </p:cNvPicPr>
          <p:nvPr/>
        </p:nvPicPr>
        <p:blipFill>
          <a:blip r:embed="rId3"/>
          <a:srcRect t="5382" b="87136"/>
          <a:stretch>
            <a:fillRect/>
          </a:stretch>
        </p:blipFill>
        <p:spPr>
          <a:xfrm>
            <a:off x="1014307" y="1095587"/>
            <a:ext cx="10286997" cy="513080"/>
          </a:xfrm>
          <a:prstGeom prst="rect">
            <a:avLst/>
          </a:prstGeom>
        </p:spPr>
      </p:pic>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Background: QLoRA = Quantization + LoRA</a:t>
            </a:r>
          </a:p>
        </p:txBody>
      </p:sp>
      <p:sp>
        <p:nvSpPr>
          <p:cNvPr id="5" name="Rounded Rectangle 4"/>
          <p:cNvSpPr/>
          <p:nvPr/>
        </p:nvSpPr>
        <p:spPr>
          <a:xfrm>
            <a:off x="1402931" y="3701627"/>
            <a:ext cx="4663440" cy="2286000"/>
          </a:xfrm>
          <a:prstGeom prst="roundRect">
            <a:avLst/>
          </a:prstGeom>
          <a:solidFill>
            <a:srgbClr val="E3F2FD"/>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77251" y="3884507"/>
            <a:ext cx="4389120" cy="1231106"/>
          </a:xfrm>
          <a:prstGeom prst="rect">
            <a:avLst/>
          </a:prstGeom>
          <a:noFill/>
        </p:spPr>
        <p:txBody>
          <a:bodyPr wrap="square">
            <a:spAutoFit/>
          </a:bodyPr>
          <a:lstStyle/>
          <a:p>
            <a:pPr algn="l">
              <a:spcAft>
                <a:spcPts val="400"/>
              </a:spcAft>
            </a:pPr>
            <a:r>
              <a:rPr sz="1600" b="1" dirty="0">
                <a:solidFill>
                  <a:srgbClr val="2196F3"/>
                </a:solidFill>
                <a:latin typeface="Georgia"/>
              </a:rPr>
              <a:t>Standard</a:t>
            </a:r>
            <a:r>
              <a:rPr lang="en-US" sz="1600" b="1" dirty="0">
                <a:solidFill>
                  <a:srgbClr val="2196F3"/>
                </a:solidFill>
                <a:latin typeface="Georgia"/>
              </a:rPr>
              <a:t> </a:t>
            </a:r>
            <a:r>
              <a:rPr sz="1600" b="1" dirty="0">
                <a:solidFill>
                  <a:srgbClr val="2196F3"/>
                </a:solidFill>
                <a:latin typeface="Georgia"/>
              </a:rPr>
              <a:t>Use:</a:t>
            </a:r>
          </a:p>
          <a:p>
            <a:pPr algn="l">
              <a:spcAft>
                <a:spcPts val="400"/>
              </a:spcAft>
            </a:pPr>
            <a:r>
              <a:rPr sz="1600" b="0" dirty="0" err="1">
                <a:solidFill>
                  <a:srgbClr val="333333"/>
                </a:solidFill>
                <a:latin typeface="Calibri"/>
              </a:rPr>
              <a:t>QLoRA</a:t>
            </a:r>
            <a:r>
              <a:rPr sz="1600" b="0" dirty="0">
                <a:solidFill>
                  <a:srgbClr val="333333"/>
                </a:solidFill>
                <a:latin typeface="Calibri"/>
              </a:rPr>
              <a:t> is used for memory savings.</a:t>
            </a:r>
          </a:p>
          <a:p>
            <a:pPr algn="l">
              <a:spcAft>
                <a:spcPts val="400"/>
              </a:spcAft>
            </a:pPr>
            <a:r>
              <a:rPr sz="1600" b="0" dirty="0">
                <a:solidFill>
                  <a:srgbClr val="666666"/>
                </a:solidFill>
                <a:latin typeface="Calibri"/>
              </a:rPr>
              <a:t>7B model: 14GB -&gt; 3.5GB (4-bit)</a:t>
            </a:r>
          </a:p>
          <a:p>
            <a:pPr algn="l">
              <a:spcAft>
                <a:spcPts val="400"/>
              </a:spcAft>
            </a:pPr>
            <a:r>
              <a:rPr sz="1600" b="1" dirty="0">
                <a:solidFill>
                  <a:srgbClr val="333333"/>
                </a:solidFill>
                <a:latin typeface="Calibri"/>
              </a:rPr>
              <a:t>Enables single-GPU training!</a:t>
            </a:r>
          </a:p>
        </p:txBody>
      </p:sp>
      <p:sp>
        <p:nvSpPr>
          <p:cNvPr id="7" name="Rounded Rectangle 6"/>
          <p:cNvSpPr/>
          <p:nvPr/>
        </p:nvSpPr>
        <p:spPr>
          <a:xfrm>
            <a:off x="6234007" y="3701627"/>
            <a:ext cx="4754880" cy="2286000"/>
          </a:xfrm>
          <a:prstGeom prst="roundRect">
            <a:avLst/>
          </a:prstGeom>
          <a:solidFill>
            <a:srgbClr val="FFF3E0"/>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08327" y="3884507"/>
            <a:ext cx="5029200" cy="1231106"/>
          </a:xfrm>
          <a:prstGeom prst="rect">
            <a:avLst/>
          </a:prstGeom>
          <a:noFill/>
        </p:spPr>
        <p:txBody>
          <a:bodyPr wrap="square">
            <a:spAutoFit/>
          </a:bodyPr>
          <a:lstStyle/>
          <a:p>
            <a:pPr algn="l">
              <a:spcAft>
                <a:spcPts val="400"/>
              </a:spcAft>
            </a:pPr>
            <a:r>
              <a:rPr sz="1600" b="1" dirty="0">
                <a:solidFill>
                  <a:srgbClr val="E67E22"/>
                </a:solidFill>
                <a:latin typeface="Georgia"/>
              </a:rPr>
              <a:t>Our Question:</a:t>
            </a:r>
          </a:p>
          <a:p>
            <a:pPr algn="l">
              <a:spcAft>
                <a:spcPts val="400"/>
              </a:spcAft>
            </a:pPr>
            <a:r>
              <a:rPr sz="1600" b="0" dirty="0">
                <a:solidFill>
                  <a:srgbClr val="333333"/>
                </a:solidFill>
                <a:latin typeface="Calibri"/>
              </a:rPr>
              <a:t>Beyond memory savings...</a:t>
            </a:r>
          </a:p>
          <a:p>
            <a:pPr algn="l">
              <a:spcAft>
                <a:spcPts val="400"/>
              </a:spcAft>
            </a:pPr>
            <a:r>
              <a:rPr sz="1600" b="0" dirty="0">
                <a:solidFill>
                  <a:srgbClr val="333333"/>
                </a:solidFill>
                <a:latin typeface="Calibri"/>
              </a:rPr>
              <a:t>Does the quantization noise act as</a:t>
            </a:r>
          </a:p>
          <a:p>
            <a:pPr algn="l">
              <a:spcAft>
                <a:spcPts val="400"/>
              </a:spcAft>
            </a:pPr>
            <a:r>
              <a:rPr sz="1600" b="1" dirty="0">
                <a:solidFill>
                  <a:srgbClr val="C0392B"/>
                </a:solidFill>
                <a:latin typeface="Calibri"/>
              </a:rPr>
              <a:t>an implicit </a:t>
            </a:r>
            <a:r>
              <a:rPr sz="1600" b="1" dirty="0" err="1">
                <a:solidFill>
                  <a:srgbClr val="C0392B"/>
                </a:solidFill>
                <a:latin typeface="Calibri"/>
              </a:rPr>
              <a:t>regularizer</a:t>
            </a:r>
            <a:r>
              <a:rPr sz="1600" b="1" dirty="0">
                <a:solidFill>
                  <a:srgbClr val="C0392B"/>
                </a:solidFill>
                <a:latin typeface="Calibri"/>
              </a:rPr>
              <a:t>?</a:t>
            </a:r>
          </a:p>
        </p:txBody>
      </p:sp>
      <p:sp>
        <p:nvSpPr>
          <p:cNvPr id="13" name="TextBox 12">
            <a:extLst>
              <a:ext uri="{FF2B5EF4-FFF2-40B4-BE49-F238E27FC236}">
                <a16:creationId xmlns:a16="http://schemas.microsoft.com/office/drawing/2014/main" id="{681ED5E2-4B9E-18A5-2EE3-49553A74CEA7}"/>
              </a:ext>
            </a:extLst>
          </p:cNvPr>
          <p:cNvSpPr txBox="1"/>
          <p:nvPr/>
        </p:nvSpPr>
        <p:spPr>
          <a:xfrm>
            <a:off x="8555079" y="1095587"/>
            <a:ext cx="1954257" cy="523220"/>
          </a:xfrm>
          <a:prstGeom prst="rect">
            <a:avLst/>
          </a:prstGeom>
          <a:noFill/>
        </p:spPr>
        <p:txBody>
          <a:bodyPr wrap="square">
            <a:spAutoFit/>
          </a:bodyPr>
          <a:lstStyle/>
          <a:p>
            <a:r>
              <a:rPr lang="en-US" sz="1400" dirty="0">
                <a:solidFill>
                  <a:srgbClr val="666666"/>
                </a:solidFill>
                <a:latin typeface="Calibri"/>
              </a:rPr>
              <a:t>Dettmers et al., 2023</a:t>
            </a:r>
          </a:p>
          <a:p>
            <a:r>
              <a:rPr lang="en-US" sz="1400" dirty="0">
                <a:solidFill>
                  <a:srgbClr val="666666"/>
                </a:solidFill>
                <a:latin typeface="Calibri"/>
              </a:rPr>
              <a:t>(</a:t>
            </a:r>
            <a:r>
              <a:rPr lang="en-US" sz="1400" dirty="0" err="1">
                <a:solidFill>
                  <a:srgbClr val="666666"/>
                </a:solidFill>
                <a:latin typeface="Calibri"/>
              </a:rPr>
              <a:t>QLoRA</a:t>
            </a:r>
            <a:r>
              <a:rPr lang="en-US" sz="1400" dirty="0">
                <a:solidFill>
                  <a:srgbClr val="666666"/>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rPr dirty="0"/>
              <a:t>Dataset: Stanford Alpaca (~52K Instruction Examples)</a:t>
            </a:r>
          </a:p>
        </p:txBody>
      </p:sp>
      <p:pic>
        <p:nvPicPr>
          <p:cNvPr id="4" name="Picture 3" descr="alpaca_preview.png"/>
          <p:cNvPicPr>
            <a:picLocks noChangeAspect="1"/>
          </p:cNvPicPr>
          <p:nvPr/>
        </p:nvPicPr>
        <p:blipFill>
          <a:blip r:embed="rId3"/>
          <a:stretch>
            <a:fillRect/>
          </a:stretch>
        </p:blipFill>
        <p:spPr>
          <a:xfrm>
            <a:off x="65726" y="960568"/>
            <a:ext cx="7980994" cy="4068632"/>
          </a:xfrm>
          <a:prstGeom prst="rect">
            <a:avLst/>
          </a:prstGeom>
        </p:spPr>
      </p:pic>
      <p:sp>
        <p:nvSpPr>
          <p:cNvPr id="5" name="Rounded Rectangle 4"/>
          <p:cNvSpPr/>
          <p:nvPr/>
        </p:nvSpPr>
        <p:spPr>
          <a:xfrm>
            <a:off x="8046720" y="1097280"/>
            <a:ext cx="3383280" cy="3474720"/>
          </a:xfrm>
          <a:prstGeom prst="roundRect">
            <a:avLst/>
          </a:prstGeom>
          <a:solidFill>
            <a:srgbClr val="F0F4FF"/>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21040" y="1280160"/>
            <a:ext cx="2926080" cy="2693045"/>
          </a:xfrm>
          <a:prstGeom prst="rect">
            <a:avLst/>
          </a:prstGeom>
          <a:noFill/>
        </p:spPr>
        <p:txBody>
          <a:bodyPr wrap="square">
            <a:spAutoFit/>
          </a:bodyPr>
          <a:lstStyle/>
          <a:p>
            <a:pPr algn="l">
              <a:spcAft>
                <a:spcPts val="400"/>
              </a:spcAft>
            </a:pPr>
            <a:r>
              <a:rPr sz="1600" b="1" dirty="0">
                <a:solidFill>
                  <a:srgbClr val="1E2761"/>
                </a:solidFill>
                <a:latin typeface="Georgia"/>
              </a:rPr>
              <a:t>Dataset Details</a:t>
            </a:r>
          </a:p>
          <a:p>
            <a:pPr algn="l">
              <a:spcAft>
                <a:spcPts val="400"/>
              </a:spcAft>
            </a:pPr>
            <a:endParaRPr sz="900" b="1" dirty="0">
              <a:solidFill>
                <a:srgbClr val="1E2761"/>
              </a:solidFill>
              <a:latin typeface="Georgia"/>
            </a:endParaRPr>
          </a:p>
          <a:p>
            <a:pPr algn="l">
              <a:spcAft>
                <a:spcPts val="400"/>
              </a:spcAft>
            </a:pPr>
            <a:r>
              <a:rPr sz="1400" b="0" dirty="0">
                <a:solidFill>
                  <a:srgbClr val="333333"/>
                </a:solidFill>
                <a:latin typeface="Calibri"/>
              </a:rPr>
              <a:t>Source: Stanford (</a:t>
            </a:r>
            <a:r>
              <a:rPr sz="1400" b="0" dirty="0" err="1">
                <a:solidFill>
                  <a:srgbClr val="333333"/>
                </a:solidFill>
                <a:latin typeface="Calibri"/>
              </a:rPr>
              <a:t>tatsu</a:t>
            </a:r>
            <a:r>
              <a:rPr sz="1400" b="0" dirty="0">
                <a:solidFill>
                  <a:srgbClr val="333333"/>
                </a:solidFill>
                <a:latin typeface="Calibri"/>
              </a:rPr>
              <a:t>-lab)</a:t>
            </a:r>
          </a:p>
          <a:p>
            <a:pPr algn="l">
              <a:spcAft>
                <a:spcPts val="400"/>
              </a:spcAft>
            </a:pPr>
            <a:r>
              <a:rPr sz="1400" b="0" dirty="0">
                <a:solidFill>
                  <a:srgbClr val="333333"/>
                </a:solidFill>
                <a:latin typeface="Calibri"/>
              </a:rPr>
              <a:t>Size: ~52K examples</a:t>
            </a:r>
          </a:p>
          <a:p>
            <a:pPr algn="l">
              <a:spcAft>
                <a:spcPts val="400"/>
              </a:spcAft>
            </a:pPr>
            <a:r>
              <a:rPr sz="1400" b="0" dirty="0">
                <a:solidFill>
                  <a:srgbClr val="333333"/>
                </a:solidFill>
                <a:latin typeface="Calibri"/>
              </a:rPr>
              <a:t>Format: instruction/input/output</a:t>
            </a:r>
          </a:p>
          <a:p>
            <a:pPr algn="l">
              <a:spcAft>
                <a:spcPts val="400"/>
              </a:spcAft>
            </a:pPr>
            <a:endParaRPr sz="1400" b="0" dirty="0">
              <a:solidFill>
                <a:srgbClr val="333333"/>
              </a:solidFill>
              <a:latin typeface="Calibri"/>
            </a:endParaRPr>
          </a:p>
          <a:p>
            <a:pPr algn="l">
              <a:spcAft>
                <a:spcPts val="400"/>
              </a:spcAft>
            </a:pPr>
            <a:r>
              <a:rPr sz="1600" b="1" dirty="0">
                <a:solidFill>
                  <a:srgbClr val="1E2761"/>
                </a:solidFill>
                <a:latin typeface="Calibri"/>
              </a:rPr>
              <a:t>Our Splits:</a:t>
            </a:r>
          </a:p>
          <a:p>
            <a:pPr algn="l">
              <a:spcAft>
                <a:spcPts val="400"/>
              </a:spcAft>
            </a:pPr>
            <a:r>
              <a:rPr sz="1400" b="0" dirty="0">
                <a:solidFill>
                  <a:srgbClr val="333333"/>
                </a:solidFill>
                <a:latin typeface="Calibri"/>
              </a:rPr>
              <a:t>Test: 500 fixed examples</a:t>
            </a:r>
          </a:p>
          <a:p>
            <a:pPr algn="l">
              <a:spcAft>
                <a:spcPts val="400"/>
              </a:spcAft>
            </a:pPr>
            <a:r>
              <a:rPr sz="1400" b="0" dirty="0">
                <a:solidFill>
                  <a:srgbClr val="333333"/>
                </a:solidFill>
                <a:latin typeface="Calibri"/>
              </a:rPr>
              <a:t>Train: 100, 500, 1K, 5K</a:t>
            </a:r>
          </a:p>
          <a:p>
            <a:pPr algn="l">
              <a:spcAft>
                <a:spcPts val="400"/>
              </a:spcAft>
            </a:pPr>
            <a:r>
              <a:rPr sz="1400" b="0" dirty="0">
                <a:solidFill>
                  <a:srgbClr val="333333"/>
                </a:solidFill>
                <a:latin typeface="Calibri"/>
              </a:rPr>
              <a:t>Val: 10% of each train set</a:t>
            </a:r>
          </a:p>
        </p:txBody>
      </p:sp>
      <p:sp>
        <p:nvSpPr>
          <p:cNvPr id="7" name="Rounded Rectangle 6"/>
          <p:cNvSpPr/>
          <p:nvPr/>
        </p:nvSpPr>
        <p:spPr>
          <a:xfrm>
            <a:off x="640080" y="5577840"/>
            <a:ext cx="10789920" cy="731520"/>
          </a:xfrm>
          <a:prstGeom prst="roundRect">
            <a:avLst/>
          </a:prstGeom>
          <a:solidFill>
            <a:srgbClr val="FFF8E1"/>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5665261"/>
            <a:ext cx="10332720" cy="553998"/>
          </a:xfrm>
          <a:prstGeom prst="rect">
            <a:avLst/>
          </a:prstGeom>
          <a:noFill/>
        </p:spPr>
        <p:txBody>
          <a:bodyPr wrap="square">
            <a:spAutoFit/>
          </a:bodyPr>
          <a:lstStyle/>
          <a:p>
            <a:pPr algn="l">
              <a:spcAft>
                <a:spcPts val="400"/>
              </a:spcAft>
            </a:pPr>
            <a:r>
              <a:rPr sz="1500" b="1" dirty="0">
                <a:solidFill>
                  <a:srgbClr val="E67E22"/>
                </a:solidFill>
                <a:latin typeface="Calibri"/>
              </a:rPr>
              <a:t>Why Alpaca? </a:t>
            </a:r>
            <a:r>
              <a:rPr sz="1500" b="0" dirty="0">
                <a:solidFill>
                  <a:srgbClr val="333333"/>
                </a:solidFill>
                <a:latin typeface="Calibri"/>
              </a:rPr>
              <a:t>It is a standard instruction-tuning benchmark, generated by a teacher model (text-davinci-003). We deliberately use small subsets (100-5K) to create low-data regimes where regularization matters most.</a:t>
            </a:r>
          </a:p>
        </p:txBody>
      </p:sp>
      <p:sp>
        <p:nvSpPr>
          <p:cNvPr id="9" name="TextBox 8">
            <a:extLst>
              <a:ext uri="{FF2B5EF4-FFF2-40B4-BE49-F238E27FC236}">
                <a16:creationId xmlns:a16="http://schemas.microsoft.com/office/drawing/2014/main" id="{161E8431-4565-C985-F954-48A101D58823}"/>
              </a:ext>
            </a:extLst>
          </p:cNvPr>
          <p:cNvSpPr txBox="1"/>
          <p:nvPr/>
        </p:nvSpPr>
        <p:spPr>
          <a:xfrm>
            <a:off x="2367221" y="4749300"/>
            <a:ext cx="1954257" cy="523220"/>
          </a:xfrm>
          <a:prstGeom prst="rect">
            <a:avLst/>
          </a:prstGeom>
          <a:noFill/>
        </p:spPr>
        <p:txBody>
          <a:bodyPr wrap="square">
            <a:spAutoFit/>
          </a:bodyPr>
          <a:lstStyle/>
          <a:p>
            <a:r>
              <a:rPr lang="en-US" sz="1400" dirty="0" err="1">
                <a:solidFill>
                  <a:srgbClr val="666666"/>
                </a:solidFill>
                <a:latin typeface="Calibri"/>
              </a:rPr>
              <a:t>Taori</a:t>
            </a:r>
            <a:r>
              <a:rPr lang="en-US" sz="1400" dirty="0">
                <a:solidFill>
                  <a:srgbClr val="666666"/>
                </a:solidFill>
                <a:latin typeface="Calibri"/>
              </a:rPr>
              <a:t> et al., 2023</a:t>
            </a:r>
          </a:p>
          <a:p>
            <a:r>
              <a:rPr lang="en-US" sz="1400" dirty="0">
                <a:solidFill>
                  <a:srgbClr val="666666"/>
                </a:solidFill>
                <a:latin typeface="Calibri"/>
              </a:rPr>
              <a:t>(Alpaca)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Theoretical Motivation: Quantization as Regularizer</a:t>
            </a:r>
          </a:p>
        </p:txBody>
      </p:sp>
      <p:sp>
        <p:nvSpPr>
          <p:cNvPr id="4" name="TextBox 3"/>
          <p:cNvSpPr txBox="1"/>
          <p:nvPr/>
        </p:nvSpPr>
        <p:spPr>
          <a:xfrm>
            <a:off x="731520" y="1097280"/>
            <a:ext cx="7315200" cy="338554"/>
          </a:xfrm>
          <a:prstGeom prst="rect">
            <a:avLst/>
          </a:prstGeom>
          <a:noFill/>
        </p:spPr>
        <p:txBody>
          <a:bodyPr wrap="square">
            <a:spAutoFit/>
          </a:bodyPr>
          <a:lstStyle/>
          <a:p>
            <a:pPr algn="l">
              <a:defRPr sz="1300" b="1">
                <a:solidFill>
                  <a:srgbClr val="1E2761"/>
                </a:solidFill>
                <a:latin typeface="Calibri"/>
              </a:defRPr>
            </a:pPr>
            <a:r>
              <a:rPr sz="1600" dirty="0"/>
              <a:t>1: Model output with quantization noise (first-order Taylor expansion)</a:t>
            </a:r>
          </a:p>
        </p:txBody>
      </p:sp>
      <p:pic>
        <p:nvPicPr>
          <p:cNvPr id="5" name="Picture 4" descr="taylor_eq.png"/>
          <p:cNvPicPr>
            <a:picLocks noChangeAspect="1"/>
          </p:cNvPicPr>
          <p:nvPr/>
        </p:nvPicPr>
        <p:blipFill>
          <a:blip r:embed="rId3"/>
          <a:stretch>
            <a:fillRect/>
          </a:stretch>
        </p:blipFill>
        <p:spPr>
          <a:xfrm>
            <a:off x="2436549" y="1174363"/>
            <a:ext cx="7318902" cy="1248221"/>
          </a:xfrm>
          <a:prstGeom prst="rect">
            <a:avLst/>
          </a:prstGeom>
        </p:spPr>
      </p:pic>
      <p:sp>
        <p:nvSpPr>
          <p:cNvPr id="6" name="TextBox 5"/>
          <p:cNvSpPr txBox="1"/>
          <p:nvPr/>
        </p:nvSpPr>
        <p:spPr>
          <a:xfrm>
            <a:off x="731520" y="2286000"/>
            <a:ext cx="7315200" cy="338554"/>
          </a:xfrm>
          <a:prstGeom prst="rect">
            <a:avLst/>
          </a:prstGeom>
          <a:noFill/>
        </p:spPr>
        <p:txBody>
          <a:bodyPr wrap="square">
            <a:spAutoFit/>
          </a:bodyPr>
          <a:lstStyle/>
          <a:p>
            <a:pPr algn="l">
              <a:defRPr sz="1300" b="1">
                <a:solidFill>
                  <a:srgbClr val="1E2761"/>
                </a:solidFill>
                <a:latin typeface="Calibri"/>
              </a:defRPr>
            </a:pPr>
            <a:r>
              <a:rPr sz="1600" dirty="0"/>
              <a:t>2: The effective training loss gains an extra penalty term</a:t>
            </a:r>
          </a:p>
        </p:txBody>
      </p:sp>
      <p:pic>
        <p:nvPicPr>
          <p:cNvPr id="7" name="Picture 6" descr="reg_eq.png"/>
          <p:cNvPicPr>
            <a:picLocks noChangeAspect="1"/>
          </p:cNvPicPr>
          <p:nvPr/>
        </p:nvPicPr>
        <p:blipFill>
          <a:blip r:embed="rId4"/>
          <a:stretch>
            <a:fillRect/>
          </a:stretch>
        </p:blipFill>
        <p:spPr>
          <a:xfrm>
            <a:off x="1828800" y="2286000"/>
            <a:ext cx="8229600" cy="1403538"/>
          </a:xfrm>
          <a:prstGeom prst="rect">
            <a:avLst/>
          </a:prstGeom>
        </p:spPr>
      </p:pic>
      <p:sp>
        <p:nvSpPr>
          <p:cNvPr id="8" name="Rounded Rectangle 7"/>
          <p:cNvSpPr/>
          <p:nvPr/>
        </p:nvSpPr>
        <p:spPr>
          <a:xfrm>
            <a:off x="731520" y="3503839"/>
            <a:ext cx="10789920" cy="960119"/>
          </a:xfrm>
          <a:prstGeom prst="roundRect">
            <a:avLst/>
          </a:prstGeom>
          <a:solidFill>
            <a:srgbClr val="FFEBEE"/>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005840" y="3595278"/>
                <a:ext cx="10332720" cy="764312"/>
              </a:xfrm>
              <a:prstGeom prst="rect">
                <a:avLst/>
              </a:prstGeom>
              <a:noFill/>
            </p:spPr>
            <p:txBody>
              <a:bodyPr wrap="square">
                <a:spAutoFit/>
              </a:bodyPr>
              <a:lstStyle/>
              <a:p>
                <a:pPr algn="l">
                  <a:spcAft>
                    <a:spcPts val="400"/>
                  </a:spcAft>
                </a:pPr>
                <a:r>
                  <a:rPr lang="en-US" sz="1300" b="1" dirty="0">
                    <a:solidFill>
                      <a:srgbClr val="C0392B"/>
                    </a:solidFill>
                    <a:latin typeface="Calibri"/>
                  </a:rPr>
                  <a:t>Key Insight (</a:t>
                </a:r>
                <a:r>
                  <a:rPr lang="en-US" sz="1300" b="1" dirty="0" err="1">
                    <a:solidFill>
                      <a:srgbClr val="C0392B"/>
                    </a:solidFill>
                    <a:latin typeface="Calibri"/>
                  </a:rPr>
                  <a:t>AskariHemmat</a:t>
                </a:r>
                <a:r>
                  <a:rPr lang="en-US" sz="1300" b="1" dirty="0">
                    <a:solidFill>
                      <a:srgbClr val="C0392B"/>
                    </a:solidFill>
                    <a:latin typeface="Calibri"/>
                  </a:rPr>
                  <a:t> et al., 2024 — </a:t>
                </a:r>
                <a:r>
                  <a:rPr lang="en-US" sz="1300" b="1" dirty="0" err="1">
                    <a:solidFill>
                      <a:srgbClr val="C0392B"/>
                    </a:solidFill>
                    <a:latin typeface="Calibri"/>
                  </a:rPr>
                  <a:t>QGen</a:t>
                </a:r>
                <a:r>
                  <a:rPr lang="en-US" sz="1300" b="1" dirty="0">
                    <a:solidFill>
                      <a:srgbClr val="C0392B"/>
                    </a:solidFill>
                    <a:latin typeface="Calibri"/>
                  </a:rPr>
                  <a:t> paper):</a:t>
                </a:r>
              </a:p>
              <a:p>
                <a:pPr algn="l">
                  <a:spcAft>
                    <a:spcPts val="400"/>
                  </a:spcAft>
                </a:pPr>
                <a14:m>
                  <m:oMath xmlns:m="http://schemas.openxmlformats.org/officeDocument/2006/math">
                    <m:r>
                      <a:rPr lang="en-US" sz="1200" b="0" i="1" smtClean="0">
                        <a:solidFill>
                          <a:srgbClr val="333333"/>
                        </a:solidFill>
                        <a:latin typeface="Cambria Math" panose="02040503050406030204" pitchFamily="18" charset="0"/>
                      </a:rPr>
                      <m:t>𝑅</m:t>
                    </m:r>
                    <m:d>
                      <m:dPr>
                        <m:ctrlPr>
                          <a:rPr lang="en-US" sz="1200" b="0" i="1" smtClean="0">
                            <a:solidFill>
                              <a:srgbClr val="333333"/>
                            </a:solidFill>
                            <a:latin typeface="Cambria Math" panose="02040503050406030204" pitchFamily="18" charset="0"/>
                          </a:rPr>
                        </m:ctrlPr>
                      </m:dPr>
                      <m:e>
                        <m:r>
                          <m:rPr>
                            <m:sty m:val="p"/>
                          </m:rPr>
                          <a:rPr lang="en-US" sz="1200" b="0" i="0" smtClean="0">
                            <a:solidFill>
                              <a:srgbClr val="333333"/>
                            </a:solidFill>
                            <a:latin typeface="Cambria Math" panose="02040503050406030204" pitchFamily="18" charset="0"/>
                          </a:rPr>
                          <m:t>Δ</m:t>
                        </m:r>
                      </m:e>
                    </m:d>
                    <m:r>
                      <a:rPr lang="en-US" sz="1200" b="0" i="1" smtClean="0">
                        <a:solidFill>
                          <a:srgbClr val="333333"/>
                        </a:solidFill>
                        <a:latin typeface="Cambria Math" panose="02040503050406030204" pitchFamily="18" charset="0"/>
                      </a:rPr>
                      <m:t>≥0</m:t>
                    </m:r>
                  </m:oMath>
                </a14:m>
                <a:r>
                  <a:rPr lang="en-US" sz="1200" b="0" dirty="0">
                    <a:solidFill>
                      <a:srgbClr val="333333"/>
                    </a:solidFill>
                    <a:latin typeface="Calibri"/>
                  </a:rPr>
                  <a:t>: Quantization adds a non-negative penalty that grows with bin width (lower bits = larger R).</a:t>
                </a:r>
              </a:p>
              <a:p>
                <a:pPr algn="l">
                  <a:spcAft>
                    <a:spcPts val="400"/>
                  </a:spcAft>
                </a:pPr>
                <a:r>
                  <a:rPr lang="en-US" sz="1200" b="1" dirty="0">
                    <a:solidFill>
                      <a:srgbClr val="333333"/>
                    </a:solidFill>
                    <a:latin typeface="Calibri"/>
                  </a:rPr>
                  <a:t>This looks just like a </a:t>
                </a:r>
                <a:r>
                  <a:rPr lang="en-US" sz="1200" b="1" dirty="0" err="1">
                    <a:solidFill>
                      <a:srgbClr val="333333"/>
                    </a:solidFill>
                    <a:latin typeface="Calibri"/>
                  </a:rPr>
                  <a:t>regularizer</a:t>
                </a:r>
                <a:r>
                  <a:rPr lang="en-US" sz="1200" b="1" dirty="0">
                    <a:solidFill>
                      <a:srgbClr val="333333"/>
                    </a:solidFill>
                    <a:latin typeface="Calibri"/>
                  </a:rPr>
                  <a:t> (similar to weight decay or dropout)!</a:t>
                </a:r>
                <a:endParaRPr sz="1200" b="1" dirty="0">
                  <a:solidFill>
                    <a:srgbClr val="333333"/>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05840" y="3595278"/>
                <a:ext cx="10332720" cy="764312"/>
              </a:xfrm>
              <a:prstGeom prst="rect">
                <a:avLst/>
              </a:prstGeom>
              <a:blipFill>
                <a:blip r:embed="rId5"/>
                <a:stretch>
                  <a:fillRect l="-59" t="-800" b="-6400"/>
                </a:stretch>
              </a:blipFill>
            </p:spPr>
            <p:txBody>
              <a:bodyPr/>
              <a:lstStyle/>
              <a:p>
                <a:r>
                  <a:rPr lang="en-US">
                    <a:noFill/>
                  </a:rPr>
                  <a:t> </a:t>
                </a:r>
              </a:p>
            </p:txBody>
          </p:sp>
        </mc:Fallback>
      </mc:AlternateContent>
      <p:sp>
        <p:nvSpPr>
          <p:cNvPr id="10" name="TextBox 9"/>
          <p:cNvSpPr txBox="1"/>
          <p:nvPr/>
        </p:nvSpPr>
        <p:spPr>
          <a:xfrm>
            <a:off x="731519" y="4937760"/>
            <a:ext cx="6739545" cy="338554"/>
          </a:xfrm>
          <a:prstGeom prst="rect">
            <a:avLst/>
          </a:prstGeom>
          <a:noFill/>
        </p:spPr>
        <p:txBody>
          <a:bodyPr wrap="square">
            <a:spAutoFit/>
          </a:bodyPr>
          <a:lstStyle/>
          <a:p>
            <a:pPr algn="l">
              <a:defRPr sz="1300" b="1">
                <a:solidFill>
                  <a:srgbClr val="1E2761"/>
                </a:solidFill>
                <a:latin typeface="Calibri"/>
              </a:defRPr>
            </a:pPr>
            <a:r>
              <a:rPr sz="1600" dirty="0"/>
              <a:t>3: Why this could help in low-data regimes (bias-variance trade-off)</a:t>
            </a:r>
          </a:p>
        </p:txBody>
      </p:sp>
      <p:pic>
        <p:nvPicPr>
          <p:cNvPr id="11" name="Picture 10" descr="biasvar.png"/>
          <p:cNvPicPr>
            <a:picLocks noChangeAspect="1"/>
          </p:cNvPicPr>
          <p:nvPr/>
        </p:nvPicPr>
        <p:blipFill>
          <a:blip r:embed="rId6"/>
          <a:stretch>
            <a:fillRect/>
          </a:stretch>
        </p:blipFill>
        <p:spPr>
          <a:xfrm>
            <a:off x="731520" y="5213951"/>
            <a:ext cx="5486400" cy="935692"/>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7162800" y="5103463"/>
                <a:ext cx="5029200" cy="646331"/>
              </a:xfrm>
              <a:prstGeom prst="rect">
                <a:avLst/>
              </a:prstGeom>
              <a:noFill/>
            </p:spPr>
            <p:txBody>
              <a:bodyPr wrap="square">
                <a:spAutoFit/>
              </a:bodyPr>
              <a:lstStyle/>
              <a:p>
                <a:pPr>
                  <a:defRPr sz="1200" b="0">
                    <a:solidFill>
                      <a:srgbClr val="333333"/>
                    </a:solidFill>
                    <a:latin typeface="Calibri"/>
                  </a:defRPr>
                </a:pPr>
                <a:r>
                  <a:rPr dirty="0"/>
                  <a:t>With few samples, variance dominates.</a:t>
                </a:r>
                <a:br>
                  <a:rPr dirty="0"/>
                </a:br>
                <a14:m>
                  <m:oMath xmlns:m="http://schemas.openxmlformats.org/officeDocument/2006/math">
                    <m:r>
                      <a:rPr lang="en-US" sz="1200" i="1">
                        <a:solidFill>
                          <a:srgbClr val="333333"/>
                        </a:solidFill>
                        <a:latin typeface="Cambria Math" panose="02040503050406030204" pitchFamily="18" charset="0"/>
                      </a:rPr>
                      <m:t>𝑅</m:t>
                    </m:r>
                    <m:d>
                      <m:dPr>
                        <m:ctrlPr>
                          <a:rPr lang="en-US" sz="1200" i="1">
                            <a:solidFill>
                              <a:srgbClr val="333333"/>
                            </a:solidFill>
                            <a:latin typeface="Cambria Math" panose="02040503050406030204" pitchFamily="18" charset="0"/>
                          </a:rPr>
                        </m:ctrlPr>
                      </m:dPr>
                      <m:e>
                        <m:r>
                          <m:rPr>
                            <m:sty m:val="p"/>
                          </m:rPr>
                          <a:rPr lang="en-US" sz="1200">
                            <a:solidFill>
                              <a:srgbClr val="333333"/>
                            </a:solidFill>
                            <a:latin typeface="Cambria Math" panose="02040503050406030204" pitchFamily="18" charset="0"/>
                          </a:rPr>
                          <m:t>Δ</m:t>
                        </m:r>
                      </m:e>
                    </m:d>
                  </m:oMath>
                </a14:m>
                <a:r>
                  <a:rPr dirty="0"/>
                  <a:t> could reduce variance at the</a:t>
                </a:r>
                <a:br>
                  <a:rPr dirty="0"/>
                </a:br>
                <a:r>
                  <a:rPr dirty="0"/>
                  <a:t>cost of small bias = net improvement!</a:t>
                </a:r>
              </a:p>
            </p:txBody>
          </p:sp>
        </mc:Choice>
        <mc:Fallback xmlns="">
          <p:sp>
            <p:nvSpPr>
              <p:cNvPr id="12" name="TextBox 11"/>
              <p:cNvSpPr txBox="1">
                <a:spLocks noRot="1" noChangeAspect="1" noMove="1" noResize="1" noEditPoints="1" noAdjustHandles="1" noChangeArrowheads="1" noChangeShapeType="1" noTextEdit="1"/>
              </p:cNvSpPr>
              <p:nvPr/>
            </p:nvSpPr>
            <p:spPr>
              <a:xfrm>
                <a:off x="7162800" y="5103463"/>
                <a:ext cx="5029200" cy="646331"/>
              </a:xfrm>
              <a:prstGeom prst="rect">
                <a:avLst/>
              </a:prstGeom>
              <a:blipFill>
                <a:blip r:embed="rId7"/>
                <a:stretch>
                  <a:fillRect b="-6604"/>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4F9F7365-824B-063F-6885-42B10DDA16E6}"/>
              </a:ext>
            </a:extLst>
          </p:cNvPr>
          <p:cNvCxnSpPr>
            <a:cxnSpLocks/>
          </p:cNvCxnSpPr>
          <p:nvPr/>
        </p:nvCxnSpPr>
        <p:spPr>
          <a:xfrm>
            <a:off x="3663214" y="2617711"/>
            <a:ext cx="191670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5124E35D-F8E1-EB91-3051-1FC675B1B782}"/>
              </a:ext>
            </a:extLst>
          </p:cNvPr>
          <p:cNvSpPr/>
          <p:nvPr/>
        </p:nvSpPr>
        <p:spPr>
          <a:xfrm>
            <a:off x="4377267" y="2788920"/>
            <a:ext cx="601133" cy="365760"/>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7BCA9DE9-9DB7-DF45-2129-84CC900AC1C9}"/>
              </a:ext>
            </a:extLst>
          </p:cNvPr>
          <p:cNvCxnSpPr>
            <a:cxnSpLocks/>
          </p:cNvCxnSpPr>
          <p:nvPr/>
        </p:nvCxnSpPr>
        <p:spPr>
          <a:xfrm>
            <a:off x="8046720" y="3196689"/>
            <a:ext cx="57742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Theoretical Motivation II: Sharpness &amp; LoRA Interaction</a:t>
            </a:r>
          </a:p>
        </p:txBody>
      </p:sp>
      <p:sp>
        <p:nvSpPr>
          <p:cNvPr id="4" name="Rounded Rectangle 3"/>
          <p:cNvSpPr/>
          <p:nvPr/>
        </p:nvSpPr>
        <p:spPr>
          <a:xfrm>
            <a:off x="359744" y="1669984"/>
            <a:ext cx="6400800" cy="1828800"/>
          </a:xfrm>
          <a:prstGeom prst="roundRect">
            <a:avLst/>
          </a:prstGeom>
          <a:solidFill>
            <a:srgbClr val="F0F4FF"/>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2624" y="1715704"/>
            <a:ext cx="5943600" cy="320040"/>
          </a:xfrm>
          <a:prstGeom prst="rect">
            <a:avLst/>
          </a:prstGeom>
          <a:noFill/>
        </p:spPr>
        <p:txBody>
          <a:bodyPr wrap="square">
            <a:spAutoFit/>
          </a:bodyPr>
          <a:lstStyle/>
          <a:p>
            <a:pPr>
              <a:defRPr sz="1300" b="1">
                <a:solidFill>
                  <a:srgbClr val="2196F3"/>
                </a:solidFill>
                <a:latin typeface="Georgia"/>
              </a:defRPr>
            </a:pPr>
            <a:r>
              <a:t>Interaction with LoRA Adapters</a:t>
            </a:r>
          </a:p>
        </p:txBody>
      </p:sp>
      <p:pic>
        <p:nvPicPr>
          <p:cNvPr id="6" name="Picture 5" descr="quant_lora_interact.png"/>
          <p:cNvPicPr>
            <a:picLocks noChangeAspect="1"/>
          </p:cNvPicPr>
          <p:nvPr/>
        </p:nvPicPr>
        <p:blipFill>
          <a:blip r:embed="rId3"/>
          <a:stretch>
            <a:fillRect/>
          </a:stretch>
        </p:blipFill>
        <p:spPr>
          <a:xfrm>
            <a:off x="725504" y="1954601"/>
            <a:ext cx="5486400" cy="750438"/>
          </a:xfrm>
          <a:prstGeom prst="rect">
            <a:avLst/>
          </a:prstGeom>
        </p:spPr>
      </p:pic>
      <p:sp>
        <p:nvSpPr>
          <p:cNvPr id="7" name="TextBox 6"/>
          <p:cNvSpPr txBox="1"/>
          <p:nvPr/>
        </p:nvSpPr>
        <p:spPr>
          <a:xfrm>
            <a:off x="542624" y="2584383"/>
            <a:ext cx="5943600" cy="822960"/>
          </a:xfrm>
          <a:prstGeom prst="rect">
            <a:avLst/>
          </a:prstGeom>
          <a:noFill/>
        </p:spPr>
        <p:txBody>
          <a:bodyPr wrap="square">
            <a:spAutoFit/>
          </a:bodyPr>
          <a:lstStyle/>
          <a:p>
            <a:r>
              <a:rPr sz="1000" b="1" dirty="0">
                <a:solidFill>
                  <a:srgbClr val="333333"/>
                </a:solidFill>
                <a:latin typeface="Calibri"/>
              </a:rPr>
              <a:t>Variance-like penalty on adapter gradient:</a:t>
            </a:r>
          </a:p>
        </p:txBody>
      </p:sp>
      <p:pic>
        <p:nvPicPr>
          <p:cNvPr id="8" name="Picture 7" descr="variance_penalty.png"/>
          <p:cNvPicPr>
            <a:picLocks noChangeAspect="1"/>
          </p:cNvPicPr>
          <p:nvPr/>
        </p:nvPicPr>
        <p:blipFill>
          <a:blip r:embed="rId4"/>
          <a:stretch>
            <a:fillRect/>
          </a:stretch>
        </p:blipFill>
        <p:spPr>
          <a:xfrm>
            <a:off x="725504" y="2696526"/>
            <a:ext cx="5303520" cy="725424"/>
          </a:xfrm>
          <a:prstGeom prst="rect">
            <a:avLst/>
          </a:prstGeom>
        </p:spPr>
      </p:pic>
      <p:sp>
        <p:nvSpPr>
          <p:cNvPr id="9" name="Rounded Rectangle 8"/>
          <p:cNvSpPr/>
          <p:nvPr/>
        </p:nvSpPr>
        <p:spPr>
          <a:xfrm>
            <a:off x="359744" y="3635944"/>
            <a:ext cx="6400800" cy="2011680"/>
          </a:xfrm>
          <a:prstGeom prst="roundRect">
            <a:avLst/>
          </a:prstGeom>
          <a:solidFill>
            <a:srgbClr val="FCE4EC"/>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2624" y="3681664"/>
            <a:ext cx="5943600" cy="320040"/>
          </a:xfrm>
          <a:prstGeom prst="rect">
            <a:avLst/>
          </a:prstGeom>
          <a:noFill/>
        </p:spPr>
        <p:txBody>
          <a:bodyPr wrap="square">
            <a:spAutoFit/>
          </a:bodyPr>
          <a:lstStyle/>
          <a:p>
            <a:pPr>
              <a:defRPr sz="1300" b="1">
                <a:solidFill>
                  <a:srgbClr val="C0392B"/>
                </a:solidFill>
                <a:latin typeface="Georgia"/>
              </a:defRPr>
            </a:pPr>
            <a:r>
              <a:t>Sharpness-Based Generalization Bound (PAC-Bayes)</a:t>
            </a:r>
          </a:p>
        </p:txBody>
      </p:sp>
      <p:pic>
        <p:nvPicPr>
          <p:cNvPr id="11" name="Picture 10" descr="pac_bayes.png"/>
          <p:cNvPicPr>
            <a:picLocks noChangeAspect="1"/>
          </p:cNvPicPr>
          <p:nvPr/>
        </p:nvPicPr>
        <p:blipFill>
          <a:blip r:embed="rId5"/>
          <a:stretch>
            <a:fillRect/>
          </a:stretch>
        </p:blipFill>
        <p:spPr>
          <a:xfrm>
            <a:off x="725504" y="4047424"/>
            <a:ext cx="5486400" cy="750438"/>
          </a:xfrm>
          <a:prstGeom prst="rect">
            <a:avLst/>
          </a:prstGeom>
        </p:spPr>
      </p:pic>
      <mc:AlternateContent xmlns:mc="http://schemas.openxmlformats.org/markup-compatibility/2006" xmlns:a14="http://schemas.microsoft.com/office/drawing/2010/main">
        <mc:Choice Requires="a14">
          <p:sp>
            <p:nvSpPr>
              <p:cNvPr id="12" name="TextBox 11"/>
              <p:cNvSpPr txBox="1"/>
              <p:nvPr/>
            </p:nvSpPr>
            <p:spPr>
              <a:xfrm>
                <a:off x="542624" y="5248854"/>
                <a:ext cx="6035040" cy="261610"/>
              </a:xfrm>
              <a:prstGeom prst="rect">
                <a:avLst/>
              </a:prstGeom>
              <a:noFill/>
            </p:spPr>
            <p:txBody>
              <a:bodyPr wrap="square">
                <a:spAutoFit/>
              </a:bodyPr>
              <a:lstStyle/>
              <a:p>
                <a:pPr>
                  <a:spcBef>
                    <a:spcPts val="400"/>
                  </a:spcBef>
                </a:pPr>
                <a:r>
                  <a:rPr lang="en-US" sz="1100" b="1" dirty="0">
                    <a:solidFill>
                      <a:srgbClr val="1E2761"/>
                    </a:solidFill>
                    <a:latin typeface="Calibri"/>
                  </a:rPr>
                  <a:t>If quantization reduces sharpness → lower population loss </a:t>
                </a:r>
                <a14:m>
                  <m:oMath xmlns:m="http://schemas.openxmlformats.org/officeDocument/2006/math">
                    <m:sSub>
                      <m:sSubPr>
                        <m:ctrlPr>
                          <a:rPr lang="en-US" sz="1100" b="1" i="1" smtClean="0">
                            <a:solidFill>
                              <a:srgbClr val="1E2761"/>
                            </a:solidFill>
                            <a:latin typeface="Cambria Math" panose="02040503050406030204" pitchFamily="18" charset="0"/>
                          </a:rPr>
                        </m:ctrlPr>
                      </m:sSubPr>
                      <m:e>
                        <m:r>
                          <a:rPr lang="en-US" sz="1100" b="1" i="1" smtClean="0">
                            <a:solidFill>
                              <a:srgbClr val="1E2761"/>
                            </a:solidFill>
                            <a:latin typeface="Cambria Math" panose="02040503050406030204" pitchFamily="18" charset="0"/>
                          </a:rPr>
                          <m:t>𝑳</m:t>
                        </m:r>
                      </m:e>
                      <m:sub>
                        <m:r>
                          <a:rPr lang="en-US" sz="1100" b="1" i="1" smtClean="0">
                            <a:solidFill>
                              <a:srgbClr val="1E2761"/>
                            </a:solidFill>
                            <a:latin typeface="Cambria Math" panose="02040503050406030204" pitchFamily="18" charset="0"/>
                          </a:rPr>
                          <m:t>𝑫</m:t>
                        </m:r>
                      </m:sub>
                    </m:sSub>
                    <m:r>
                      <a:rPr lang="en-US" sz="1100" b="1" i="1" smtClean="0">
                        <a:solidFill>
                          <a:srgbClr val="1E2761"/>
                        </a:solidFill>
                        <a:latin typeface="Cambria Math" panose="02040503050406030204" pitchFamily="18" charset="0"/>
                      </a:rPr>
                      <m:t>(</m:t>
                    </m:r>
                    <m:r>
                      <a:rPr lang="en-US" sz="1100" b="1" i="1" smtClean="0">
                        <a:solidFill>
                          <a:srgbClr val="1E2761"/>
                        </a:solidFill>
                        <a:latin typeface="Cambria Math" panose="02040503050406030204" pitchFamily="18" charset="0"/>
                      </a:rPr>
                      <m:t>𝒘</m:t>
                    </m:r>
                    <m:r>
                      <a:rPr lang="en-US" sz="1100" b="1" i="1" smtClean="0">
                        <a:solidFill>
                          <a:srgbClr val="1E2761"/>
                        </a:solidFill>
                        <a:latin typeface="Cambria Math" panose="02040503050406030204" pitchFamily="18" charset="0"/>
                      </a:rPr>
                      <m:t>)</m:t>
                    </m:r>
                  </m:oMath>
                </a14:m>
                <a:r>
                  <a:rPr lang="en-US" sz="1100" b="1" dirty="0">
                    <a:solidFill>
                      <a:srgbClr val="1E2761"/>
                    </a:solidFill>
                    <a:latin typeface="Calibri"/>
                  </a:rPr>
                  <a:t>→ better generalization!</a:t>
                </a:r>
                <a:endParaRPr sz="1100" b="1" dirty="0">
                  <a:solidFill>
                    <a:srgbClr val="1E2761"/>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42624" y="5248854"/>
                <a:ext cx="6035040" cy="261610"/>
              </a:xfrm>
              <a:prstGeom prst="rect">
                <a:avLst/>
              </a:prstGeom>
              <a:blipFill>
                <a:blip r:embed="rId6"/>
                <a:stretch>
                  <a:fillRect b="-16279"/>
                </a:stretch>
              </a:blipFill>
            </p:spPr>
            <p:txBody>
              <a:bodyPr/>
              <a:lstStyle/>
              <a:p>
                <a:r>
                  <a:rPr lang="en-US">
                    <a:noFill/>
                  </a:rPr>
                  <a:t> </a:t>
                </a:r>
              </a:p>
            </p:txBody>
          </p:sp>
        </mc:Fallback>
      </mc:AlternateContent>
      <p:sp>
        <p:nvSpPr>
          <p:cNvPr id="13" name="Rounded Rectangle 12"/>
          <p:cNvSpPr/>
          <p:nvPr/>
        </p:nvSpPr>
        <p:spPr>
          <a:xfrm>
            <a:off x="6943424" y="1669984"/>
            <a:ext cx="4572000" cy="3977639"/>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26304" y="1715704"/>
            <a:ext cx="4206240" cy="320040"/>
          </a:xfrm>
          <a:prstGeom prst="rect">
            <a:avLst/>
          </a:prstGeom>
          <a:noFill/>
        </p:spPr>
        <p:txBody>
          <a:bodyPr wrap="square">
            <a:spAutoFit/>
          </a:bodyPr>
          <a:lstStyle/>
          <a:p>
            <a:pPr algn="ctr">
              <a:defRPr sz="1200" b="1">
                <a:solidFill>
                  <a:srgbClr val="1E2761"/>
                </a:solidFill>
                <a:latin typeface="Georgia"/>
              </a:defRPr>
            </a:pPr>
            <a:r>
              <a:t>Loss Landscape Visualization</a:t>
            </a:r>
          </a:p>
        </p:txBody>
      </p:sp>
      <p:pic>
        <p:nvPicPr>
          <p:cNvPr id="15" name="Picture 14" descr="loss_landscape.png"/>
          <p:cNvPicPr>
            <a:picLocks noChangeAspect="1"/>
          </p:cNvPicPr>
          <p:nvPr/>
        </p:nvPicPr>
        <p:blipFill>
          <a:blip r:embed="rId7"/>
          <a:stretch>
            <a:fillRect/>
          </a:stretch>
        </p:blipFill>
        <p:spPr>
          <a:xfrm>
            <a:off x="7034864" y="2081464"/>
            <a:ext cx="4389120" cy="1279428"/>
          </a:xfrm>
          <a:prstGeom prst="rect">
            <a:avLst/>
          </a:prstGeom>
        </p:spPr>
      </p:pic>
      <p:sp>
        <p:nvSpPr>
          <p:cNvPr id="16" name="TextBox 15"/>
          <p:cNvSpPr txBox="1"/>
          <p:nvPr/>
        </p:nvSpPr>
        <p:spPr>
          <a:xfrm>
            <a:off x="7034864" y="4047424"/>
            <a:ext cx="4389120" cy="1463040"/>
          </a:xfrm>
          <a:prstGeom prst="rect">
            <a:avLst/>
          </a:prstGeom>
          <a:noFill/>
        </p:spPr>
        <p:txBody>
          <a:bodyPr wrap="square">
            <a:spAutoFit/>
          </a:bodyPr>
          <a:lstStyle/>
          <a:p>
            <a:r>
              <a:rPr sz="1000" b="1">
                <a:solidFill>
                  <a:srgbClr val="27AE60"/>
                </a:solidFill>
                <a:latin typeface="Calibri"/>
              </a:rPr>
              <a:t>8-bit smooths the landscape (flatter minima). </a:t>
            </a:r>
          </a:p>
          <a:p>
            <a:r>
              <a:rPr sz="1000" b="1">
                <a:solidFill>
                  <a:srgbClr val="C0392B"/>
                </a:solidFill>
                <a:latin typeface="Calibri"/>
              </a:rPr>
              <a:t>4-bit introduces jagged peaks (too much noise).</a:t>
            </a:r>
          </a:p>
          <a:p>
            <a:pPr>
              <a:spcBef>
                <a:spcPts val="300"/>
              </a:spcBef>
            </a:pPr>
            <a:r>
              <a:rPr sz="900" i="1">
                <a:solidFill>
                  <a:srgbClr val="666666"/>
                </a:solidFill>
                <a:latin typeface="Calibri"/>
              </a:rPr>
              <a:t>Source: AskariHemmat et al. (QGen, 2024)</a:t>
            </a:r>
          </a:p>
        </p:txBody>
      </p:sp>
      <p:pic>
        <p:nvPicPr>
          <p:cNvPr id="20" name="Picture 19">
            <a:extLst>
              <a:ext uri="{FF2B5EF4-FFF2-40B4-BE49-F238E27FC236}">
                <a16:creationId xmlns:a16="http://schemas.microsoft.com/office/drawing/2014/main" id="{C959E5E3-ECA4-F77C-1598-02B7AC7C74F6}"/>
              </a:ext>
            </a:extLst>
          </p:cNvPr>
          <p:cNvPicPr>
            <a:picLocks noChangeAspect="1"/>
          </p:cNvPicPr>
          <p:nvPr/>
        </p:nvPicPr>
        <p:blipFill>
          <a:blip r:embed="rId8"/>
          <a:srcRect t="-3940" r="75472"/>
          <a:stretch>
            <a:fillRect/>
          </a:stretch>
        </p:blipFill>
        <p:spPr>
          <a:xfrm>
            <a:off x="7236278" y="3136541"/>
            <a:ext cx="752689" cy="195287"/>
          </a:xfrm>
          <a:prstGeom prst="rect">
            <a:avLst/>
          </a:prstGeom>
        </p:spPr>
      </p:pic>
      <p:pic>
        <p:nvPicPr>
          <p:cNvPr id="25" name="Picture 24">
            <a:extLst>
              <a:ext uri="{FF2B5EF4-FFF2-40B4-BE49-F238E27FC236}">
                <a16:creationId xmlns:a16="http://schemas.microsoft.com/office/drawing/2014/main" id="{418D155B-EE31-ED57-38AB-584AC3FBD536}"/>
              </a:ext>
            </a:extLst>
          </p:cNvPr>
          <p:cNvPicPr>
            <a:picLocks noChangeAspect="1"/>
          </p:cNvPicPr>
          <p:nvPr/>
        </p:nvPicPr>
        <p:blipFill>
          <a:blip r:embed="rId9"/>
          <a:stretch>
            <a:fillRect/>
          </a:stretch>
        </p:blipFill>
        <p:spPr>
          <a:xfrm>
            <a:off x="8351530" y="3153775"/>
            <a:ext cx="2981014" cy="162130"/>
          </a:xfrm>
          <a:prstGeom prst="rect">
            <a:avLst/>
          </a:prstGeom>
        </p:spPr>
      </p:pic>
      <p:pic>
        <p:nvPicPr>
          <p:cNvPr id="21" name="Picture 20">
            <a:extLst>
              <a:ext uri="{FF2B5EF4-FFF2-40B4-BE49-F238E27FC236}">
                <a16:creationId xmlns:a16="http://schemas.microsoft.com/office/drawing/2014/main" id="{7B20CC65-88F5-5F39-2CA5-789BED91D14B}"/>
              </a:ext>
            </a:extLst>
          </p:cNvPr>
          <p:cNvPicPr>
            <a:picLocks noChangeAspect="1"/>
          </p:cNvPicPr>
          <p:nvPr/>
        </p:nvPicPr>
        <p:blipFill>
          <a:blip r:embed="rId8"/>
          <a:srcRect l="32499" t="1" r="49590" b="13707"/>
          <a:stretch>
            <a:fillRect/>
          </a:stretch>
        </p:blipFill>
        <p:spPr>
          <a:xfrm>
            <a:off x="8498112" y="3136541"/>
            <a:ext cx="549635" cy="162130"/>
          </a:xfrm>
          <a:prstGeom prst="rect">
            <a:avLst/>
          </a:prstGeom>
        </p:spPr>
      </p:pic>
      <p:pic>
        <p:nvPicPr>
          <p:cNvPr id="26" name="Picture 25">
            <a:extLst>
              <a:ext uri="{FF2B5EF4-FFF2-40B4-BE49-F238E27FC236}">
                <a16:creationId xmlns:a16="http://schemas.microsoft.com/office/drawing/2014/main" id="{C3AE2586-2C51-AE5E-CA01-A7799ACB35AC}"/>
              </a:ext>
            </a:extLst>
          </p:cNvPr>
          <p:cNvPicPr>
            <a:picLocks noChangeAspect="1"/>
          </p:cNvPicPr>
          <p:nvPr/>
        </p:nvPicPr>
        <p:blipFill>
          <a:blip r:embed="rId8"/>
          <a:srcRect l="56958" t="-3940" r="28464" b="17647"/>
          <a:stretch>
            <a:fillRect/>
          </a:stretch>
        </p:blipFill>
        <p:spPr>
          <a:xfrm>
            <a:off x="9556891" y="3132839"/>
            <a:ext cx="447367" cy="162131"/>
          </a:xfrm>
          <a:prstGeom prst="rect">
            <a:avLst/>
          </a:prstGeom>
        </p:spPr>
      </p:pic>
      <p:pic>
        <p:nvPicPr>
          <p:cNvPr id="27" name="Picture 26">
            <a:extLst>
              <a:ext uri="{FF2B5EF4-FFF2-40B4-BE49-F238E27FC236}">
                <a16:creationId xmlns:a16="http://schemas.microsoft.com/office/drawing/2014/main" id="{3EE8FD7D-1230-2F98-563E-FAC84A527C3E}"/>
              </a:ext>
            </a:extLst>
          </p:cNvPr>
          <p:cNvPicPr>
            <a:picLocks noChangeAspect="1"/>
          </p:cNvPicPr>
          <p:nvPr/>
        </p:nvPicPr>
        <p:blipFill>
          <a:blip r:embed="rId8"/>
          <a:srcRect l="85782" t="-249" r="-1"/>
          <a:stretch>
            <a:fillRect/>
          </a:stretch>
        </p:blipFill>
        <p:spPr>
          <a:xfrm>
            <a:off x="10672010" y="3132839"/>
            <a:ext cx="436349" cy="188351"/>
          </a:xfrm>
          <a:prstGeom prst="rect">
            <a:avLst/>
          </a:prstGeom>
        </p:spPr>
      </p:pic>
      <p:sp>
        <p:nvSpPr>
          <p:cNvPr id="17" name="Right Brace 16">
            <a:extLst>
              <a:ext uri="{FF2B5EF4-FFF2-40B4-BE49-F238E27FC236}">
                <a16:creationId xmlns:a16="http://schemas.microsoft.com/office/drawing/2014/main" id="{3E7C5635-022D-714B-FC5F-716733360B5E}"/>
              </a:ext>
            </a:extLst>
          </p:cNvPr>
          <p:cNvSpPr/>
          <p:nvPr/>
        </p:nvSpPr>
        <p:spPr>
          <a:xfrm rot="5400000">
            <a:off x="3223548" y="4201010"/>
            <a:ext cx="275573" cy="1212206"/>
          </a:xfrm>
          <a:prstGeom prst="righ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1894C1-1961-CE62-FCCB-5C53BDBE1D87}"/>
              </a:ext>
            </a:extLst>
          </p:cNvPr>
          <p:cNvSpPr txBox="1"/>
          <p:nvPr/>
        </p:nvSpPr>
        <p:spPr>
          <a:xfrm>
            <a:off x="3020503" y="4926388"/>
            <a:ext cx="761648" cy="246221"/>
          </a:xfrm>
          <a:prstGeom prst="rect">
            <a:avLst/>
          </a:prstGeom>
          <a:noFill/>
        </p:spPr>
        <p:txBody>
          <a:bodyPr wrap="square">
            <a:spAutoFit/>
          </a:bodyPr>
          <a:lstStyle/>
          <a:p>
            <a:r>
              <a:rPr lang="en-US" sz="1000" b="1" dirty="0">
                <a:solidFill>
                  <a:schemeClr val="accent3"/>
                </a:solidFill>
                <a:latin typeface="Calibri"/>
              </a:rPr>
              <a:t>sharpness</a:t>
            </a:r>
            <a:endParaRPr lang="en-US" sz="1000" dirty="0">
              <a:solidFill>
                <a:schemeClr val="accent3"/>
              </a:solidFill>
            </a:endParaRPr>
          </a:p>
        </p:txBody>
      </p:sp>
      <p:sp>
        <p:nvSpPr>
          <p:cNvPr id="24" name="Right Brace 23">
            <a:extLst>
              <a:ext uri="{FF2B5EF4-FFF2-40B4-BE49-F238E27FC236}">
                <a16:creationId xmlns:a16="http://schemas.microsoft.com/office/drawing/2014/main" id="{C4161327-2067-F014-3076-6368810D514D}"/>
              </a:ext>
            </a:extLst>
          </p:cNvPr>
          <p:cNvSpPr/>
          <p:nvPr/>
        </p:nvSpPr>
        <p:spPr>
          <a:xfrm rot="5400000">
            <a:off x="4474893" y="4534644"/>
            <a:ext cx="268562" cy="551953"/>
          </a:xfrm>
          <a:prstGeom prst="righ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8" name="TextBox 27">
            <a:extLst>
              <a:ext uri="{FF2B5EF4-FFF2-40B4-BE49-F238E27FC236}">
                <a16:creationId xmlns:a16="http://schemas.microsoft.com/office/drawing/2014/main" id="{A1C7948F-DF6D-9176-C1B0-188C071E8F0D}"/>
              </a:ext>
            </a:extLst>
          </p:cNvPr>
          <p:cNvSpPr txBox="1"/>
          <p:nvPr/>
        </p:nvSpPr>
        <p:spPr>
          <a:xfrm>
            <a:off x="4255603" y="4944900"/>
            <a:ext cx="834068" cy="246221"/>
          </a:xfrm>
          <a:prstGeom prst="rect">
            <a:avLst/>
          </a:prstGeom>
          <a:noFill/>
        </p:spPr>
        <p:txBody>
          <a:bodyPr wrap="square">
            <a:spAutoFit/>
          </a:bodyPr>
          <a:lstStyle/>
          <a:p>
            <a:r>
              <a:rPr lang="en-US" sz="1000" b="1" dirty="0">
                <a:solidFill>
                  <a:schemeClr val="accent3"/>
                </a:solidFill>
                <a:latin typeface="Calibri"/>
              </a:rPr>
              <a:t>complexity</a:t>
            </a:r>
            <a:endParaRPr lang="en-US" sz="1000" dirty="0">
              <a:solidFill>
                <a:schemeClr val="accent3"/>
              </a:solidFill>
            </a:endParaRPr>
          </a:p>
        </p:txBody>
      </p:sp>
      <p:pic>
        <p:nvPicPr>
          <p:cNvPr id="30" name="Picture 29" descr="setup_step1.png">
            <a:extLst>
              <a:ext uri="{FF2B5EF4-FFF2-40B4-BE49-F238E27FC236}">
                <a16:creationId xmlns:a16="http://schemas.microsoft.com/office/drawing/2014/main" id="{80C24B32-7618-6461-13B3-47EC09FF6A0E}"/>
              </a:ext>
            </a:extLst>
          </p:cNvPr>
          <p:cNvPicPr>
            <a:picLocks noChangeAspect="1"/>
          </p:cNvPicPr>
          <p:nvPr/>
        </p:nvPicPr>
        <p:blipFill>
          <a:blip r:embed="rId10"/>
          <a:srcRect l="8503" r="71343"/>
          <a:stretch>
            <a:fillRect/>
          </a:stretch>
        </p:blipFill>
        <p:spPr>
          <a:xfrm>
            <a:off x="3266841" y="707451"/>
            <a:ext cx="1822830" cy="1060401"/>
          </a:xfrm>
          <a:prstGeom prst="rect">
            <a:avLst/>
          </a:prstGeom>
        </p:spPr>
      </p:pic>
      <p:pic>
        <p:nvPicPr>
          <p:cNvPr id="32" name="Picture 31" descr="setup_step2.png">
            <a:extLst>
              <a:ext uri="{FF2B5EF4-FFF2-40B4-BE49-F238E27FC236}">
                <a16:creationId xmlns:a16="http://schemas.microsoft.com/office/drawing/2014/main" id="{A3EE94F6-6566-C541-3729-37B235F6C3F7}"/>
              </a:ext>
            </a:extLst>
          </p:cNvPr>
          <p:cNvPicPr>
            <a:picLocks noChangeAspect="1"/>
          </p:cNvPicPr>
          <p:nvPr/>
        </p:nvPicPr>
        <p:blipFill>
          <a:blip r:embed="rId11"/>
          <a:srcRect l="1507" r="74326"/>
          <a:stretch>
            <a:fillRect/>
          </a:stretch>
        </p:blipFill>
        <p:spPr>
          <a:xfrm>
            <a:off x="762000" y="767467"/>
            <a:ext cx="1938391" cy="940368"/>
          </a:xfrm>
          <a:prstGeom prst="rect">
            <a:avLst/>
          </a:prstGeom>
        </p:spPr>
      </p:pic>
      <p:cxnSp>
        <p:nvCxnSpPr>
          <p:cNvPr id="18" name="Straight Connector 17">
            <a:extLst>
              <a:ext uri="{FF2B5EF4-FFF2-40B4-BE49-F238E27FC236}">
                <a16:creationId xmlns:a16="http://schemas.microsoft.com/office/drawing/2014/main" id="{897BB121-0674-9F87-3621-4295E1A3BD72}"/>
              </a:ext>
            </a:extLst>
          </p:cNvPr>
          <p:cNvCxnSpPr>
            <a:cxnSpLocks/>
          </p:cNvCxnSpPr>
          <p:nvPr/>
        </p:nvCxnSpPr>
        <p:spPr>
          <a:xfrm>
            <a:off x="3632375" y="3225139"/>
            <a:ext cx="114422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p:bldP spid="24" grpId="0" animBg="1"/>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800" b="1">
                <a:solidFill>
                  <a:srgbClr val="FFFFFF"/>
                </a:solidFill>
                <a:latin typeface="Georgia"/>
              </a:defRPr>
            </a:pPr>
            <a:r>
              <a:t>Our Research in One Sentence</a:t>
            </a:r>
          </a:p>
        </p:txBody>
      </p:sp>
      <p:sp>
        <p:nvSpPr>
          <p:cNvPr id="4" name="Rounded Rectangle 3"/>
          <p:cNvSpPr/>
          <p:nvPr/>
        </p:nvSpPr>
        <p:spPr>
          <a:xfrm>
            <a:off x="701040" y="1688253"/>
            <a:ext cx="10789920" cy="3213947"/>
          </a:xfrm>
          <a:prstGeom prst="roundRect">
            <a:avLst/>
          </a:prstGeom>
          <a:solidFill>
            <a:srgbClr val="F0F4FF"/>
          </a:solidFill>
          <a:ln w="2540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8240" y="1962573"/>
            <a:ext cx="9875520" cy="2236510"/>
          </a:xfrm>
          <a:prstGeom prst="rect">
            <a:avLst/>
          </a:prstGeom>
          <a:noFill/>
        </p:spPr>
        <p:txBody>
          <a:bodyPr wrap="square">
            <a:spAutoFit/>
          </a:bodyPr>
          <a:lstStyle/>
          <a:p>
            <a:pPr algn="l">
              <a:spcAft>
                <a:spcPts val="400"/>
              </a:spcAft>
            </a:pPr>
            <a:r>
              <a:rPr b="1" u="sng" dirty="0">
                <a:solidFill>
                  <a:srgbClr val="1E2761"/>
                </a:solidFill>
                <a:latin typeface="Calibri"/>
              </a:rPr>
              <a:t>We study</a:t>
            </a:r>
            <a:r>
              <a:rPr lang="en-US" b="1" u="sng" dirty="0">
                <a:solidFill>
                  <a:srgbClr val="1E2761"/>
                </a:solidFill>
                <a:latin typeface="Calibri"/>
              </a:rPr>
              <a:t>:</a:t>
            </a:r>
            <a:r>
              <a:rPr b="1" dirty="0">
                <a:solidFill>
                  <a:srgbClr val="1E2761"/>
                </a:solidFill>
                <a:latin typeface="Calibri"/>
              </a:rPr>
              <a:t> </a:t>
            </a:r>
            <a:r>
              <a:rPr dirty="0">
                <a:solidFill>
                  <a:srgbClr val="1E2761"/>
                </a:solidFill>
                <a:latin typeface="Calibri"/>
              </a:rPr>
              <a:t>whether quantization noise in frozen LLM weights acts as implicit regularization during low-data fine-tuning.</a:t>
            </a:r>
          </a:p>
          <a:p>
            <a:pPr algn="l">
              <a:spcAft>
                <a:spcPts val="400"/>
              </a:spcAft>
            </a:pPr>
            <a:endParaRPr b="1" dirty="0">
              <a:solidFill>
                <a:srgbClr val="1E2761"/>
              </a:solidFill>
              <a:latin typeface="Calibri"/>
            </a:endParaRPr>
          </a:p>
          <a:p>
            <a:pPr>
              <a:spcAft>
                <a:spcPts val="400"/>
              </a:spcAft>
            </a:pPr>
            <a:r>
              <a:rPr b="1" u="sng" dirty="0">
                <a:solidFill>
                  <a:srgbClr val="1E2761"/>
                </a:solidFill>
                <a:latin typeface="Calibri"/>
              </a:rPr>
              <a:t>Existing methods</a:t>
            </a:r>
            <a:r>
              <a:rPr lang="en-US" b="1" u="sng" dirty="0">
                <a:solidFill>
                  <a:srgbClr val="1E2761"/>
                </a:solidFill>
                <a:latin typeface="Calibri"/>
              </a:rPr>
              <a:t>:</a:t>
            </a:r>
            <a:r>
              <a:rPr b="1" dirty="0">
                <a:solidFill>
                  <a:srgbClr val="1E2761"/>
                </a:solidFill>
                <a:latin typeface="Calibri"/>
              </a:rPr>
              <a:t> </a:t>
            </a:r>
            <a:r>
              <a:rPr lang="en-US" dirty="0" err="1">
                <a:solidFill>
                  <a:srgbClr val="1E2761"/>
                </a:solidFill>
                <a:latin typeface="Calibri"/>
              </a:rPr>
              <a:t>QLoRA</a:t>
            </a:r>
            <a:r>
              <a:rPr lang="en-US" dirty="0">
                <a:solidFill>
                  <a:srgbClr val="1E2761"/>
                </a:solidFill>
                <a:latin typeface="Calibri"/>
              </a:rPr>
              <a:t> was designed purely for memory savings/efficiency.</a:t>
            </a:r>
            <a:endParaRPr dirty="0">
              <a:solidFill>
                <a:srgbClr val="1E2761"/>
              </a:solidFill>
              <a:latin typeface="Calibri"/>
            </a:endParaRPr>
          </a:p>
          <a:p>
            <a:pPr algn="l">
              <a:spcAft>
                <a:spcPts val="400"/>
              </a:spcAft>
            </a:pPr>
            <a:endParaRPr b="1" dirty="0">
              <a:solidFill>
                <a:srgbClr val="1E2761"/>
              </a:solidFill>
              <a:latin typeface="Calibri"/>
            </a:endParaRPr>
          </a:p>
          <a:p>
            <a:pPr algn="l">
              <a:spcAft>
                <a:spcPts val="400"/>
              </a:spcAft>
            </a:pPr>
            <a:r>
              <a:rPr b="1" u="sng" dirty="0">
                <a:solidFill>
                  <a:srgbClr val="1E2761"/>
                </a:solidFill>
                <a:latin typeface="Calibri"/>
              </a:rPr>
              <a:t>We propose</a:t>
            </a:r>
            <a:r>
              <a:rPr lang="en-US" b="1" u="sng" dirty="0">
                <a:solidFill>
                  <a:srgbClr val="1E2761"/>
                </a:solidFill>
                <a:latin typeface="Calibri"/>
              </a:rPr>
              <a:t>:</a:t>
            </a:r>
            <a:r>
              <a:rPr b="1" dirty="0">
                <a:solidFill>
                  <a:srgbClr val="1E2761"/>
                </a:solidFill>
                <a:latin typeface="Calibri"/>
              </a:rPr>
              <a:t> </a:t>
            </a:r>
            <a:r>
              <a:rPr lang="en-US" dirty="0">
                <a:solidFill>
                  <a:srgbClr val="1E2761"/>
                </a:solidFill>
                <a:latin typeface="Calibri"/>
              </a:rPr>
              <a:t>Does it have free statistical side-effects? We run </a:t>
            </a:r>
            <a:r>
              <a:rPr dirty="0">
                <a:solidFill>
                  <a:srgbClr val="1E2761"/>
                </a:solidFill>
                <a:latin typeface="Calibri"/>
              </a:rPr>
              <a:t>a systematic 156-experiment ablation across two model scales (1.1B and 7B), varying precision, data size, and </a:t>
            </a:r>
            <a:r>
              <a:rPr dirty="0" err="1">
                <a:solidFill>
                  <a:srgbClr val="1E2761"/>
                </a:solidFill>
                <a:latin typeface="Calibri"/>
              </a:rPr>
              <a:t>LoRA</a:t>
            </a:r>
            <a:r>
              <a:rPr dirty="0">
                <a:solidFill>
                  <a:srgbClr val="1E2761"/>
                </a:solidFill>
                <a:latin typeface="Calibri"/>
              </a:rPr>
              <a:t> rank.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800" b="1">
                <a:solidFill>
                  <a:srgbClr val="FFFFFF"/>
                </a:solidFill>
                <a:latin typeface="Georgia"/>
              </a:defRPr>
            </a:pPr>
            <a:r>
              <a:t>Hypotheses Under Test</a:t>
            </a:r>
          </a:p>
        </p:txBody>
      </p:sp>
      <p:pic>
        <p:nvPicPr>
          <p:cNvPr id="4" name="Picture 3" descr="hypotheses.png"/>
          <p:cNvPicPr>
            <a:picLocks noChangeAspect="1"/>
          </p:cNvPicPr>
          <p:nvPr/>
        </p:nvPicPr>
        <p:blipFill>
          <a:blip r:embed="rId3"/>
          <a:stretch>
            <a:fillRect/>
          </a:stretch>
        </p:blipFill>
        <p:spPr>
          <a:xfrm>
            <a:off x="274320" y="1005840"/>
            <a:ext cx="11430000" cy="4715874"/>
          </a:xfrm>
          <a:prstGeom prst="rect">
            <a:avLst/>
          </a:prstGeom>
        </p:spPr>
      </p:pic>
      <p:sp>
        <p:nvSpPr>
          <p:cNvPr id="5" name="Rounded Rectangle 4"/>
          <p:cNvSpPr/>
          <p:nvPr/>
        </p:nvSpPr>
        <p:spPr>
          <a:xfrm>
            <a:off x="731520" y="4572000"/>
            <a:ext cx="10789920" cy="1463040"/>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4709160"/>
            <a:ext cx="10332720" cy="1107996"/>
          </a:xfrm>
          <a:prstGeom prst="rect">
            <a:avLst/>
          </a:prstGeom>
          <a:noFill/>
        </p:spPr>
        <p:txBody>
          <a:bodyPr wrap="square">
            <a:spAutoFit/>
          </a:bodyPr>
          <a:lstStyle/>
          <a:p>
            <a:pPr algn="l">
              <a:spcAft>
                <a:spcPts val="400"/>
              </a:spcAft>
            </a:pPr>
            <a:r>
              <a:rPr sz="1400" b="1" dirty="0">
                <a:solidFill>
                  <a:srgbClr val="1E2761"/>
                </a:solidFill>
                <a:latin typeface="Georgia"/>
              </a:rPr>
              <a:t>In plain language:</a:t>
            </a:r>
          </a:p>
          <a:p>
            <a:pPr algn="l">
              <a:spcAft>
                <a:spcPts val="400"/>
              </a:spcAft>
            </a:pPr>
            <a:r>
              <a:rPr sz="1400" b="0" dirty="0">
                <a:solidFill>
                  <a:srgbClr val="333333"/>
                </a:solidFill>
                <a:latin typeface="Calibri"/>
              </a:rPr>
              <a:t>H1: Does 4-bit or 8-bit beat full precision when data is scarce?</a:t>
            </a:r>
          </a:p>
          <a:p>
            <a:pPr algn="l">
              <a:spcAft>
                <a:spcPts val="400"/>
              </a:spcAft>
            </a:pPr>
            <a:r>
              <a:rPr sz="1400" b="0" dirty="0">
                <a:solidFill>
                  <a:srgbClr val="333333"/>
                </a:solidFill>
                <a:latin typeface="Calibri"/>
              </a:rPr>
              <a:t>H2: Does this advantage disappear as you add more training examples?</a:t>
            </a:r>
          </a:p>
          <a:p>
            <a:pPr algn="l">
              <a:spcAft>
                <a:spcPts val="400"/>
              </a:spcAft>
            </a:pPr>
            <a:r>
              <a:rPr sz="1400" b="0" dirty="0">
                <a:solidFill>
                  <a:srgbClr val="333333"/>
                </a:solidFill>
                <a:latin typeface="Calibri"/>
              </a:rPr>
              <a:t>H3: Does using fewer trainable parameters (low </a:t>
            </a:r>
            <a:r>
              <a:rPr sz="1400" b="0" dirty="0" err="1">
                <a:solidFill>
                  <a:srgbClr val="333333"/>
                </a:solidFill>
                <a:latin typeface="Calibri"/>
              </a:rPr>
              <a:t>LoRA</a:t>
            </a:r>
            <a:r>
              <a:rPr sz="1400" b="0" dirty="0">
                <a:solidFill>
                  <a:srgbClr val="333333"/>
                </a:solidFill>
                <a:latin typeface="Calibri"/>
              </a:rPr>
              <a:t> rank) amplify the effect?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Experimental Design: 156 Controlled Experiments</a:t>
            </a:r>
          </a:p>
        </p:txBody>
      </p:sp>
      <p:sp>
        <p:nvSpPr>
          <p:cNvPr id="7" name="Rounded Rectangle 6"/>
          <p:cNvSpPr/>
          <p:nvPr/>
        </p:nvSpPr>
        <p:spPr>
          <a:xfrm>
            <a:off x="4521664" y="4447062"/>
            <a:ext cx="3148671" cy="1967655"/>
          </a:xfrm>
          <a:prstGeom prst="roundRect">
            <a:avLst/>
          </a:prstGeom>
          <a:solidFill>
            <a:srgbClr val="E8F5E9"/>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4706237" y="4617591"/>
            <a:ext cx="2784327" cy="1692771"/>
          </a:xfrm>
          <a:prstGeom prst="rect">
            <a:avLst/>
          </a:prstGeom>
          <a:noFill/>
        </p:spPr>
        <p:txBody>
          <a:bodyPr wrap="square">
            <a:spAutoFit/>
          </a:bodyPr>
          <a:lstStyle/>
          <a:p>
            <a:pPr algn="l">
              <a:spcAft>
                <a:spcPts val="400"/>
              </a:spcAft>
            </a:pPr>
            <a:r>
              <a:rPr sz="1300" b="1" dirty="0">
                <a:solidFill>
                  <a:srgbClr val="27AE60"/>
                </a:solidFill>
                <a:latin typeface="Georgia"/>
              </a:rPr>
              <a:t>Evaluation Metrics:</a:t>
            </a:r>
          </a:p>
          <a:p>
            <a:pPr algn="l">
              <a:spcAft>
                <a:spcPts val="400"/>
              </a:spcAft>
            </a:pPr>
            <a:endParaRPr sz="1300" b="1" dirty="0">
              <a:solidFill>
                <a:srgbClr val="27AE60"/>
              </a:solidFill>
              <a:latin typeface="Georgia"/>
            </a:endParaRPr>
          </a:p>
          <a:p>
            <a:pPr algn="l">
              <a:spcAft>
                <a:spcPts val="400"/>
              </a:spcAft>
            </a:pPr>
            <a:r>
              <a:rPr sz="1200" b="1" dirty="0">
                <a:solidFill>
                  <a:srgbClr val="333333"/>
                </a:solidFill>
                <a:latin typeface="Calibri"/>
              </a:rPr>
              <a:t>Test Loss: </a:t>
            </a:r>
            <a:r>
              <a:rPr sz="1100" b="0" dirty="0">
                <a:solidFill>
                  <a:srgbClr val="666666"/>
                </a:solidFill>
                <a:latin typeface="Calibri"/>
              </a:rPr>
              <a:t>NLL on 500 held-out examples</a:t>
            </a:r>
          </a:p>
          <a:p>
            <a:pPr algn="l">
              <a:spcAft>
                <a:spcPts val="400"/>
              </a:spcAft>
            </a:pPr>
            <a:r>
              <a:rPr sz="1200" b="1" dirty="0">
                <a:solidFill>
                  <a:srgbClr val="333333"/>
                </a:solidFill>
                <a:latin typeface="Calibri"/>
              </a:rPr>
              <a:t>Gen. Gap: </a:t>
            </a:r>
            <a:r>
              <a:rPr sz="1100" b="0" dirty="0">
                <a:solidFill>
                  <a:srgbClr val="666666"/>
                </a:solidFill>
                <a:latin typeface="Calibri"/>
              </a:rPr>
              <a:t>Train loss - Val loss</a:t>
            </a:r>
          </a:p>
          <a:p>
            <a:pPr algn="l">
              <a:spcAft>
                <a:spcPts val="400"/>
              </a:spcAft>
            </a:pPr>
            <a:r>
              <a:rPr sz="1200" b="1" dirty="0">
                <a:solidFill>
                  <a:srgbClr val="333333"/>
                </a:solidFill>
                <a:latin typeface="Calibri"/>
              </a:rPr>
              <a:t>Perplexity: </a:t>
            </a:r>
            <a:r>
              <a:rPr sz="1100" b="0" dirty="0">
                <a:solidFill>
                  <a:srgbClr val="666666"/>
                </a:solidFill>
                <a:latin typeface="Calibri"/>
              </a:rPr>
              <a:t>exp(test loss)</a:t>
            </a:r>
            <a:endParaRPr lang="en-US" sz="1100" b="0" dirty="0">
              <a:solidFill>
                <a:srgbClr val="666666"/>
              </a:solidFill>
              <a:latin typeface="Calibri"/>
            </a:endParaRPr>
          </a:p>
          <a:p>
            <a:pPr algn="l">
              <a:spcAft>
                <a:spcPts val="400"/>
              </a:spcAft>
            </a:pPr>
            <a:endParaRPr sz="1100" b="0" dirty="0">
              <a:solidFill>
                <a:srgbClr val="666666"/>
              </a:solidFill>
              <a:latin typeface="Calibri"/>
            </a:endParaRPr>
          </a:p>
          <a:p>
            <a:pPr algn="l">
              <a:spcAft>
                <a:spcPts val="400"/>
              </a:spcAft>
            </a:pPr>
            <a:r>
              <a:rPr sz="1100" b="0" dirty="0">
                <a:solidFill>
                  <a:srgbClr val="666666"/>
                </a:solidFill>
                <a:latin typeface="Calibri"/>
              </a:rPr>
              <a:t>All means +/- std across seeds</a:t>
            </a:r>
          </a:p>
        </p:txBody>
      </p:sp>
      <p:pic>
        <p:nvPicPr>
          <p:cNvPr id="9" name="Picture 8" descr="experiment_grid.png">
            <a:extLst>
              <a:ext uri="{FF2B5EF4-FFF2-40B4-BE49-F238E27FC236}">
                <a16:creationId xmlns:a16="http://schemas.microsoft.com/office/drawing/2014/main" id="{F3F5B469-F700-B6D7-3961-ABD438FF81BB}"/>
              </a:ext>
            </a:extLst>
          </p:cNvPr>
          <p:cNvPicPr>
            <a:picLocks noChangeAspect="1"/>
          </p:cNvPicPr>
          <p:nvPr/>
        </p:nvPicPr>
        <p:blipFill>
          <a:blip r:embed="rId3"/>
          <a:srcRect t="8443" b="52218"/>
          <a:stretch>
            <a:fillRect/>
          </a:stretch>
        </p:blipFill>
        <p:spPr>
          <a:xfrm>
            <a:off x="1569719" y="960120"/>
            <a:ext cx="8615657" cy="1761913"/>
          </a:xfrm>
          <a:prstGeom prst="rect">
            <a:avLst/>
          </a:prstGeom>
        </p:spPr>
      </p:pic>
      <p:pic>
        <p:nvPicPr>
          <p:cNvPr id="10" name="Picture 9" descr="experiment_grid.png">
            <a:extLst>
              <a:ext uri="{FF2B5EF4-FFF2-40B4-BE49-F238E27FC236}">
                <a16:creationId xmlns:a16="http://schemas.microsoft.com/office/drawing/2014/main" id="{84D4C7B4-DEB2-DF06-C96D-0C2C63AC03E1}"/>
              </a:ext>
            </a:extLst>
          </p:cNvPr>
          <p:cNvPicPr>
            <a:picLocks noChangeAspect="1"/>
          </p:cNvPicPr>
          <p:nvPr/>
        </p:nvPicPr>
        <p:blipFill>
          <a:blip r:embed="rId3"/>
          <a:srcRect t="54285" b="37965"/>
          <a:stretch>
            <a:fillRect/>
          </a:stretch>
        </p:blipFill>
        <p:spPr>
          <a:xfrm>
            <a:off x="1635771" y="2881206"/>
            <a:ext cx="8615657" cy="347134"/>
          </a:xfrm>
          <a:prstGeom prst="rect">
            <a:avLst/>
          </a:prstGeom>
        </p:spPr>
      </p:pic>
      <p:pic>
        <p:nvPicPr>
          <p:cNvPr id="11" name="Picture 10" descr="experiment_grid.png">
            <a:extLst>
              <a:ext uri="{FF2B5EF4-FFF2-40B4-BE49-F238E27FC236}">
                <a16:creationId xmlns:a16="http://schemas.microsoft.com/office/drawing/2014/main" id="{EB8BCAE7-8AFA-95C6-8767-2D1B61D962B3}"/>
              </a:ext>
            </a:extLst>
          </p:cNvPr>
          <p:cNvPicPr>
            <a:picLocks noChangeAspect="1"/>
          </p:cNvPicPr>
          <p:nvPr/>
        </p:nvPicPr>
        <p:blipFill>
          <a:blip r:embed="rId3"/>
          <a:srcRect t="68110" b="9187"/>
          <a:stretch>
            <a:fillRect/>
          </a:stretch>
        </p:blipFill>
        <p:spPr>
          <a:xfrm>
            <a:off x="1635771" y="3281680"/>
            <a:ext cx="8615657" cy="1016847"/>
          </a:xfrm>
          <a:prstGeom prst="rect">
            <a:avLst/>
          </a:prstGeom>
        </p:spPr>
      </p:pic>
      <p:sp>
        <p:nvSpPr>
          <p:cNvPr id="4" name="Oval 3">
            <a:extLst>
              <a:ext uri="{FF2B5EF4-FFF2-40B4-BE49-F238E27FC236}">
                <a16:creationId xmlns:a16="http://schemas.microsoft.com/office/drawing/2014/main" id="{CA782616-2991-35AB-8D3C-3B328657FFAE}"/>
              </a:ext>
            </a:extLst>
          </p:cNvPr>
          <p:cNvSpPr/>
          <p:nvPr/>
        </p:nvSpPr>
        <p:spPr>
          <a:xfrm>
            <a:off x="747348" y="4663246"/>
            <a:ext cx="1621779" cy="1571299"/>
          </a:xfrm>
          <a:prstGeom prst="ellipse">
            <a:avLst/>
          </a:prstGeom>
          <a:solidFill>
            <a:schemeClr val="accent4">
              <a:lumMod val="20000"/>
              <a:lumOff val="80000"/>
            </a:schemeClr>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40C6BA2-9899-AC76-46CA-981691F4D28A}"/>
              </a:ext>
            </a:extLst>
          </p:cNvPr>
          <p:cNvSpPr txBox="1"/>
          <p:nvPr/>
        </p:nvSpPr>
        <p:spPr>
          <a:xfrm>
            <a:off x="989854" y="4989742"/>
            <a:ext cx="1115984" cy="882293"/>
          </a:xfrm>
          <a:prstGeom prst="rect">
            <a:avLst/>
          </a:prstGeom>
          <a:noFill/>
        </p:spPr>
        <p:txBody>
          <a:bodyPr wrap="square">
            <a:spAutoFit/>
          </a:bodyPr>
          <a:lstStyle/>
          <a:p>
            <a:pPr algn="ctr">
              <a:spcAft>
                <a:spcPts val="400"/>
              </a:spcAft>
            </a:pPr>
            <a:r>
              <a:rPr lang="en-US" sz="2400" b="1" dirty="0">
                <a:solidFill>
                  <a:schemeClr val="tx2">
                    <a:lumMod val="50000"/>
                    <a:lumOff val="50000"/>
                  </a:schemeClr>
                </a:solidFill>
                <a:latin typeface="Calibri"/>
              </a:rPr>
              <a:t>~126</a:t>
            </a:r>
          </a:p>
          <a:p>
            <a:pPr algn="ctr">
              <a:spcAft>
                <a:spcPts val="400"/>
              </a:spcAft>
            </a:pPr>
            <a:r>
              <a:rPr lang="en-US" sz="2400" b="1" dirty="0">
                <a:solidFill>
                  <a:schemeClr val="tx2">
                    <a:lumMod val="50000"/>
                    <a:lumOff val="50000"/>
                  </a:schemeClr>
                </a:solidFill>
                <a:latin typeface="Calibri"/>
              </a:rPr>
              <a:t>Hours!</a:t>
            </a:r>
            <a:endParaRPr sz="2400" b="1" dirty="0">
              <a:solidFill>
                <a:schemeClr val="tx2">
                  <a:lumMod val="50000"/>
                  <a:lumOff val="50000"/>
                </a:schemeClr>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6858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515600" cy="1371600"/>
          </a:xfrm>
          <a:prstGeom prst="rect">
            <a:avLst/>
          </a:prstGeom>
          <a:noFill/>
        </p:spPr>
        <p:txBody>
          <a:bodyPr wrap="square">
            <a:spAutoFit/>
          </a:bodyPr>
          <a:lstStyle/>
          <a:p>
            <a:pPr algn="ctr">
              <a:defRPr sz="3600" b="1">
                <a:solidFill>
                  <a:srgbClr val="FFFFFF"/>
                </a:solidFill>
                <a:latin typeface="Georgia"/>
              </a:defRPr>
            </a:pPr>
            <a:r>
              <a:t>TinyLlama 1.1B Results</a:t>
            </a:r>
          </a:p>
        </p:txBody>
      </p:sp>
      <p:sp>
        <p:nvSpPr>
          <p:cNvPr id="4" name="TextBox 3"/>
          <p:cNvSpPr txBox="1"/>
          <p:nvPr/>
        </p:nvSpPr>
        <p:spPr>
          <a:xfrm>
            <a:off x="914400" y="3200400"/>
            <a:ext cx="10515600" cy="731520"/>
          </a:xfrm>
          <a:prstGeom prst="rect">
            <a:avLst/>
          </a:prstGeom>
          <a:noFill/>
        </p:spPr>
        <p:txBody>
          <a:bodyPr wrap="square">
            <a:spAutoFit/>
          </a:bodyPr>
          <a:lstStyle/>
          <a:p>
            <a:pPr algn="ctr">
              <a:defRPr sz="1600" b="0">
                <a:solidFill>
                  <a:srgbClr val="CADCFC"/>
                </a:solidFill>
                <a:latin typeface="Calibri"/>
              </a:defRPr>
            </a:pPr>
            <a:r>
              <a:t>108 experiments  •  3 precisions  •  4 data sizes  •  3 ranks  •  3 seeds</a:t>
            </a:r>
          </a:p>
        </p:txBody>
      </p:sp>
      <p:sp>
        <p:nvSpPr>
          <p:cNvPr id="5" name="Rounded Rectangle 4"/>
          <p:cNvSpPr/>
          <p:nvPr/>
        </p:nvSpPr>
        <p:spPr>
          <a:xfrm>
            <a:off x="4114800" y="4114800"/>
            <a:ext cx="4114800" cy="36576"/>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4572000"/>
            <a:ext cx="8686800" cy="731520"/>
          </a:xfrm>
          <a:prstGeom prst="rect">
            <a:avLst/>
          </a:prstGeom>
          <a:noFill/>
        </p:spPr>
        <p:txBody>
          <a:bodyPr wrap="square">
            <a:spAutoFit/>
          </a:bodyPr>
          <a:lstStyle/>
          <a:p>
            <a:pPr algn="ctr">
              <a:defRPr sz="1800" b="1">
                <a:solidFill>
                  <a:srgbClr val="FF6B6B"/>
                </a:solidFill>
                <a:latin typeface="Calibri"/>
              </a:defRPr>
            </a:pPr>
            <a:r>
              <a:t>Spoiler: No regularization benefit at this scale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95A07B0-3F03-9716-C695-DFB7045B78F2}"/>
              </a:ext>
            </a:extLst>
          </p:cNvPr>
          <p:cNvPicPr>
            <a:picLocks noChangeAspect="1"/>
          </p:cNvPicPr>
          <p:nvPr/>
        </p:nvPicPr>
        <p:blipFill>
          <a:blip r:embed="rId3"/>
          <a:stretch>
            <a:fillRect/>
          </a:stretch>
        </p:blipFill>
        <p:spPr>
          <a:xfrm>
            <a:off x="1358030" y="1618321"/>
            <a:ext cx="9475940" cy="1548212"/>
          </a:xfrm>
          <a:prstGeom prst="rect">
            <a:avLst/>
          </a:prstGeom>
        </p:spPr>
      </p:pic>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TinyLlama 1.1B: Main Results — FP16 Wins Everywhere</a:t>
            </a: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200" b="0">
                <a:solidFill>
                  <a:srgbClr val="666666"/>
                </a:solidFill>
                <a:latin typeface="Calibri"/>
              </a:defRPr>
            </a:pPr>
            <a:r>
              <a:rPr dirty="0"/>
              <a:t>Mean Test NLL (+/- std) across 3 </a:t>
            </a:r>
            <a:r>
              <a:rPr dirty="0" err="1"/>
              <a:t>LoRA</a:t>
            </a:r>
            <a:r>
              <a:rPr dirty="0"/>
              <a:t> ranks and 3 seeds (9 runs per cell)</a:t>
            </a:r>
          </a:p>
        </p:txBody>
      </p:sp>
      <p:sp>
        <p:nvSpPr>
          <p:cNvPr id="6" name="Rounded Rectangle 5"/>
          <p:cNvSpPr/>
          <p:nvPr/>
        </p:nvSpPr>
        <p:spPr>
          <a:xfrm>
            <a:off x="640080" y="3691467"/>
            <a:ext cx="10789920" cy="2560320"/>
          </a:xfrm>
          <a:prstGeom prst="roundRect">
            <a:avLst/>
          </a:prstGeom>
          <a:solidFill>
            <a:srgbClr val="FFEBEE"/>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782907"/>
            <a:ext cx="10332720" cy="2377440"/>
          </a:xfrm>
          <a:prstGeom prst="rect">
            <a:avLst/>
          </a:prstGeom>
          <a:noFill/>
        </p:spPr>
        <p:txBody>
          <a:bodyPr wrap="square">
            <a:spAutoFit/>
          </a:bodyPr>
          <a:lstStyle/>
          <a:p>
            <a:pPr algn="l">
              <a:spcAft>
                <a:spcPts val="400"/>
              </a:spcAft>
            </a:pPr>
            <a:r>
              <a:rPr sz="1600" b="1">
                <a:solidFill>
                  <a:srgbClr val="C0392B"/>
                </a:solidFill>
                <a:latin typeface="Georgia"/>
              </a:rPr>
              <a:t>H1: NOT SUPPORTED</a:t>
            </a:r>
          </a:p>
          <a:p>
            <a:pPr algn="l">
              <a:spcAft>
                <a:spcPts val="400"/>
              </a:spcAft>
            </a:pPr>
            <a:endParaRPr sz="1600" b="1">
              <a:solidFill>
                <a:srgbClr val="C0392B"/>
              </a:solidFill>
              <a:latin typeface="Georgia"/>
            </a:endParaRPr>
          </a:p>
          <a:p>
            <a:pPr algn="l">
              <a:spcAft>
                <a:spcPts val="400"/>
              </a:spcAft>
            </a:pPr>
            <a:r>
              <a:rPr sz="1300" b="0">
                <a:solidFill>
                  <a:srgbClr val="333333"/>
                </a:solidFill>
                <a:latin typeface="Calibri"/>
              </a:rPr>
              <a:t>FP16 achieves the lowest test loss at every data size. </a:t>
            </a:r>
            <a:r>
              <a:rPr sz="1300" b="1">
                <a:solidFill>
                  <a:srgbClr val="333333"/>
                </a:solidFill>
                <a:latin typeface="Calibri"/>
              </a:rPr>
              <a:t>The ordering FP16 &lt; 8-bit &lt; 4-bit holds universally.</a:t>
            </a:r>
          </a:p>
          <a:p>
            <a:pPr algn="l">
              <a:spcAft>
                <a:spcPts val="400"/>
              </a:spcAft>
            </a:pPr>
            <a:endParaRPr sz="1300" b="1">
              <a:solidFill>
                <a:srgbClr val="333333"/>
              </a:solidFill>
              <a:latin typeface="Calibri"/>
            </a:endParaRPr>
          </a:p>
          <a:p>
            <a:pPr algn="l">
              <a:spcAft>
                <a:spcPts val="400"/>
              </a:spcAft>
            </a:pPr>
            <a:r>
              <a:rPr sz="1300" b="0">
                <a:solidFill>
                  <a:srgbClr val="333333"/>
                </a:solidFill>
                <a:latin typeface="Calibri"/>
              </a:rPr>
              <a:t>At n=100 (most favorable for regularization): 4-bit NF4 = 1.302 vs FP16 = 1.283</a:t>
            </a:r>
          </a:p>
          <a:p>
            <a:pPr algn="l">
              <a:spcAft>
                <a:spcPts val="400"/>
              </a:spcAft>
            </a:pPr>
            <a:r>
              <a:rPr sz="1300" b="1">
                <a:solidFill>
                  <a:srgbClr val="C0392B"/>
                </a:solidFill>
                <a:latin typeface="Calibri"/>
              </a:rPr>
              <a:t>This is a degradation of 0.019 NLL — quantization HURTS, it does not help.</a:t>
            </a:r>
          </a:p>
          <a:p>
            <a:pPr algn="l">
              <a:spcAft>
                <a:spcPts val="400"/>
              </a:spcAft>
            </a:pPr>
            <a:endParaRPr sz="1300" b="1">
              <a:solidFill>
                <a:srgbClr val="C0392B"/>
              </a:solidFill>
              <a:latin typeface="Calibri"/>
            </a:endParaRPr>
          </a:p>
          <a:p>
            <a:pPr algn="l">
              <a:spcAft>
                <a:spcPts val="400"/>
              </a:spcAft>
            </a:pPr>
            <a:r>
              <a:rPr sz="1300" b="1">
                <a:solidFill>
                  <a:srgbClr val="C0392B"/>
                </a:solidFill>
                <a:latin typeface="Calibri"/>
              </a:rPr>
              <a:t>H2: NOT SUPPORTED </a:t>
            </a:r>
            <a:r>
              <a:rPr sz="1300" b="0">
                <a:solidFill>
                  <a:srgbClr val="333333"/>
                </a:solidFill>
                <a:latin typeface="Calibri"/>
              </a:rPr>
              <a:t>— The 4-bit penalty persists at all data sizes (0.012-0.019 NLL).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TinyLlama: Validation Loss vs. Dataset Size</a:t>
            </a:r>
          </a:p>
        </p:txBody>
      </p:sp>
      <p:pic>
        <p:nvPicPr>
          <p:cNvPr id="4" name="Picture 3" descr="cell_29_out_00.png"/>
          <p:cNvPicPr>
            <a:picLocks noChangeAspect="1"/>
          </p:cNvPicPr>
          <p:nvPr/>
        </p:nvPicPr>
        <p:blipFill>
          <a:blip r:embed="rId3"/>
          <a:stretch>
            <a:fillRect/>
          </a:stretch>
        </p:blipFill>
        <p:spPr>
          <a:xfrm>
            <a:off x="457200" y="914400"/>
            <a:ext cx="6858000" cy="4070195"/>
          </a:xfrm>
          <a:prstGeom prst="rect">
            <a:avLst/>
          </a:prstGeom>
        </p:spPr>
      </p:pic>
      <p:sp>
        <p:nvSpPr>
          <p:cNvPr id="5" name="Rounded Rectangle 4"/>
          <p:cNvSpPr/>
          <p:nvPr/>
        </p:nvSpPr>
        <p:spPr>
          <a:xfrm>
            <a:off x="7498079" y="1097280"/>
            <a:ext cx="3931920" cy="2743200"/>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1234440"/>
            <a:ext cx="3474720" cy="2560320"/>
          </a:xfrm>
          <a:prstGeom prst="rect">
            <a:avLst/>
          </a:prstGeom>
          <a:noFill/>
        </p:spPr>
        <p:txBody>
          <a:bodyPr wrap="square">
            <a:spAutoFit/>
          </a:bodyPr>
          <a:lstStyle/>
          <a:p>
            <a:pPr algn="l">
              <a:spcAft>
                <a:spcPts val="400"/>
              </a:spcAft>
            </a:pPr>
            <a:r>
              <a:rPr sz="1300" b="1">
                <a:solidFill>
                  <a:srgbClr val="1E2761"/>
                </a:solidFill>
                <a:latin typeface="Georgia"/>
              </a:rPr>
              <a:t>What to notice:</a:t>
            </a:r>
          </a:p>
          <a:p>
            <a:pPr algn="l">
              <a:spcAft>
                <a:spcPts val="400"/>
              </a:spcAft>
            </a:pPr>
            <a:endParaRPr sz="1300" b="1">
              <a:solidFill>
                <a:srgbClr val="1E2761"/>
              </a:solidFill>
              <a:latin typeface="Georgia"/>
            </a:endParaRPr>
          </a:p>
          <a:p>
            <a:pPr algn="l">
              <a:spcAft>
                <a:spcPts val="400"/>
              </a:spcAft>
            </a:pPr>
            <a:r>
              <a:rPr sz="1100" b="0">
                <a:solidFill>
                  <a:srgbClr val="333333"/>
                </a:solidFill>
                <a:latin typeface="Calibri"/>
              </a:rPr>
              <a:t>FP16 (green) and 8-bit (blue) overlap almost perfectly</a:t>
            </a:r>
          </a:p>
          <a:p>
            <a:pPr algn="l">
              <a:spcAft>
                <a:spcPts val="400"/>
              </a:spcAft>
            </a:pPr>
            <a:endParaRPr sz="1100" b="0">
              <a:solidFill>
                <a:srgbClr val="333333"/>
              </a:solidFill>
              <a:latin typeface="Calibri"/>
            </a:endParaRPr>
          </a:p>
          <a:p>
            <a:pPr algn="l">
              <a:spcAft>
                <a:spcPts val="400"/>
              </a:spcAft>
            </a:pPr>
            <a:r>
              <a:rPr sz="1100" b="0">
                <a:solidFill>
                  <a:srgbClr val="C0392B"/>
                </a:solidFill>
                <a:latin typeface="Calibri"/>
              </a:rPr>
              <a:t>4-bit (red) sits persistently ABOVE both</a:t>
            </a:r>
          </a:p>
          <a:p>
            <a:pPr algn="l">
              <a:spcAft>
                <a:spcPts val="400"/>
              </a:spcAft>
            </a:pPr>
            <a:endParaRPr sz="1100" b="0">
              <a:solidFill>
                <a:srgbClr val="C0392B"/>
              </a:solidFill>
              <a:latin typeface="Calibri"/>
            </a:endParaRPr>
          </a:p>
          <a:p>
            <a:pPr algn="l">
              <a:spcAft>
                <a:spcPts val="400"/>
              </a:spcAft>
            </a:pPr>
            <a:r>
              <a:rPr sz="1100" b="0">
                <a:solidFill>
                  <a:srgbClr val="333333"/>
                </a:solidFill>
                <a:latin typeface="Calibri"/>
              </a:rPr>
              <a:t>If H1 were true, 4-bit would be BELOW FP16 at small n</a:t>
            </a:r>
          </a:p>
          <a:p>
            <a:pPr algn="l">
              <a:spcAft>
                <a:spcPts val="400"/>
              </a:spcAft>
            </a:pPr>
            <a:endParaRPr sz="1100" b="0">
              <a:solidFill>
                <a:srgbClr val="333333"/>
              </a:solidFill>
              <a:latin typeface="Calibri"/>
            </a:endParaRPr>
          </a:p>
          <a:p>
            <a:pPr algn="l">
              <a:spcAft>
                <a:spcPts val="400"/>
              </a:spcAft>
            </a:pPr>
            <a:r>
              <a:rPr sz="1100" b="1">
                <a:solidFill>
                  <a:srgbClr val="C0392B"/>
                </a:solidFill>
                <a:latin typeface="Calibri"/>
              </a:rPr>
              <a:t>Conclusion: No crossover at any data size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TinyLlama: Generalization Gap — Nearly Identical Across Precisions</a:t>
            </a:r>
          </a:p>
        </p:txBody>
      </p:sp>
      <p:pic>
        <p:nvPicPr>
          <p:cNvPr id="4" name="Picture 3" descr="cell_30_out_00.png"/>
          <p:cNvPicPr>
            <a:picLocks noChangeAspect="1"/>
          </p:cNvPicPr>
          <p:nvPr/>
        </p:nvPicPr>
        <p:blipFill>
          <a:blip r:embed="rId3"/>
          <a:stretch>
            <a:fillRect/>
          </a:stretch>
        </p:blipFill>
        <p:spPr>
          <a:xfrm>
            <a:off x="274320" y="914400"/>
            <a:ext cx="6858000" cy="3382662"/>
          </a:xfrm>
          <a:prstGeom prst="rect">
            <a:avLst/>
          </a:prstGeom>
        </p:spPr>
      </p:pic>
      <p:sp>
        <p:nvSpPr>
          <p:cNvPr id="5" name="Rounded Rectangle 4"/>
          <p:cNvSpPr/>
          <p:nvPr/>
        </p:nvSpPr>
        <p:spPr>
          <a:xfrm>
            <a:off x="7315200" y="1097280"/>
            <a:ext cx="4114800" cy="4846320"/>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6" name="TextBox 5"/>
              <p:cNvSpPr txBox="1"/>
              <p:nvPr/>
            </p:nvSpPr>
            <p:spPr>
              <a:xfrm>
                <a:off x="7589520" y="1234440"/>
                <a:ext cx="3657600" cy="2678554"/>
              </a:xfrm>
              <a:prstGeom prst="rect">
                <a:avLst/>
              </a:prstGeom>
              <a:noFill/>
            </p:spPr>
            <p:txBody>
              <a:bodyPr wrap="square">
                <a:spAutoFit/>
              </a:bodyPr>
              <a:lstStyle/>
              <a:p>
                <a:pPr algn="l">
                  <a:spcAft>
                    <a:spcPts val="400"/>
                  </a:spcAft>
                </a:pPr>
                <a:r>
                  <a:rPr sz="1200" b="1" dirty="0">
                    <a:solidFill>
                      <a:srgbClr val="1E2761"/>
                    </a:solidFill>
                    <a:latin typeface="Georgia"/>
                  </a:rPr>
                  <a:t>Gen. Gap = Train Loss - Val Loss</a:t>
                </a:r>
              </a:p>
              <a:p>
                <a:pPr algn="l">
                  <a:spcAft>
                    <a:spcPts val="400"/>
                  </a:spcAft>
                </a:pPr>
                <a:r>
                  <a:rPr sz="1000" b="0" dirty="0">
                    <a:solidFill>
                      <a:srgbClr val="666666"/>
                    </a:solidFill>
                    <a:latin typeface="Calibri"/>
                  </a:rPr>
                  <a:t>(negative = overfitting)</a:t>
                </a:r>
              </a:p>
              <a:p>
                <a:pPr algn="l">
                  <a:spcAft>
                    <a:spcPts val="400"/>
                  </a:spcAft>
                </a:pPr>
                <a:endParaRPr sz="1000" b="0" dirty="0">
                  <a:solidFill>
                    <a:srgbClr val="666666"/>
                  </a:solidFill>
                  <a:latin typeface="Calibri"/>
                </a:endParaRPr>
              </a:p>
              <a:p>
                <a:pPr algn="l">
                  <a:spcAft>
                    <a:spcPts val="400"/>
                  </a:spcAft>
                </a:pPr>
                <a:r>
                  <a:rPr sz="1200" b="1" dirty="0">
                    <a:solidFill>
                      <a:srgbClr val="333333"/>
                    </a:solidFill>
                    <a:latin typeface="Calibri"/>
                  </a:rPr>
                  <a:t>At n=100:</a:t>
                </a:r>
              </a:p>
              <a:p>
                <a:pPr algn="l">
                  <a:spcAft>
                    <a:spcPts val="400"/>
                  </a:spcAft>
                </a:pPr>
                <a:r>
                  <a:rPr sz="1100" b="0" dirty="0">
                    <a:solidFill>
                      <a:srgbClr val="333333"/>
                    </a:solidFill>
                    <a:latin typeface="Calibri"/>
                  </a:rPr>
                  <a:t>FP16:  -0.266</a:t>
                </a:r>
              </a:p>
              <a:p>
                <a:pPr algn="l">
                  <a:spcAft>
                    <a:spcPts val="400"/>
                  </a:spcAft>
                </a:pPr>
                <a:r>
                  <a:rPr sz="1100" b="0" dirty="0">
                    <a:solidFill>
                      <a:srgbClr val="333333"/>
                    </a:solidFill>
                    <a:latin typeface="Calibri"/>
                  </a:rPr>
                  <a:t>8-bit: -0.266</a:t>
                </a:r>
              </a:p>
              <a:p>
                <a:pPr algn="l">
                  <a:spcAft>
                    <a:spcPts val="400"/>
                  </a:spcAft>
                </a:pPr>
                <a:r>
                  <a:rPr sz="1100" b="0" dirty="0">
                    <a:solidFill>
                      <a:srgbClr val="333333"/>
                    </a:solidFill>
                    <a:latin typeface="Calibri"/>
                  </a:rPr>
                  <a:t>4-bit: -0.268</a:t>
                </a:r>
              </a:p>
              <a:p>
                <a:pPr algn="l">
                  <a:spcAft>
                    <a:spcPts val="400"/>
                  </a:spcAft>
                </a:pPr>
                <a:endParaRPr sz="1100" b="0" dirty="0">
                  <a:solidFill>
                    <a:srgbClr val="333333"/>
                  </a:solidFill>
                  <a:latin typeface="Calibri"/>
                </a:endParaRPr>
              </a:p>
              <a:p>
                <a:pPr algn="l">
                  <a:spcAft>
                    <a:spcPts val="400"/>
                  </a:spcAft>
                </a:pPr>
                <a:r>
                  <a:rPr sz="1200" b="1" dirty="0">
                    <a:solidFill>
                      <a:srgbClr val="C0392B"/>
                    </a:solidFill>
                    <a:latin typeface="Calibri"/>
                  </a:rPr>
                  <a:t>Almost identical!</a:t>
                </a:r>
              </a:p>
              <a:p>
                <a:pPr algn="l">
                  <a:spcAft>
                    <a:spcPts val="400"/>
                  </a:spcAft>
                </a:pPr>
                <a:endParaRPr sz="1200" b="1" dirty="0">
                  <a:solidFill>
                    <a:srgbClr val="C0392B"/>
                  </a:solidFill>
                  <a:latin typeface="Calibri"/>
                </a:endParaRPr>
              </a:p>
              <a:p>
                <a:pPr>
                  <a:spcAft>
                    <a:spcPts val="400"/>
                  </a:spcAft>
                </a:pPr>
                <a:r>
                  <a:rPr sz="1100" b="0" dirty="0">
                    <a:solidFill>
                      <a:srgbClr val="333333"/>
                    </a:solidFill>
                    <a:latin typeface="Calibri"/>
                  </a:rPr>
                  <a:t>If </a:t>
                </a:r>
                <a14:m>
                  <m:oMath xmlns:m="http://schemas.openxmlformats.org/officeDocument/2006/math">
                    <m:r>
                      <a:rPr lang="en-US" sz="1100" i="1">
                        <a:solidFill>
                          <a:srgbClr val="333333"/>
                        </a:solidFill>
                        <a:latin typeface="Cambria Math" panose="02040503050406030204" pitchFamily="18" charset="0"/>
                      </a:rPr>
                      <m:t>𝑅</m:t>
                    </m:r>
                    <m:d>
                      <m:dPr>
                        <m:ctrlPr>
                          <a:rPr lang="en-US" sz="1100" i="1">
                            <a:solidFill>
                              <a:srgbClr val="333333"/>
                            </a:solidFill>
                            <a:latin typeface="Cambria Math" panose="02040503050406030204" pitchFamily="18" charset="0"/>
                          </a:rPr>
                        </m:ctrlPr>
                      </m:dPr>
                      <m:e>
                        <m:r>
                          <m:rPr>
                            <m:sty m:val="p"/>
                          </m:rPr>
                          <a:rPr lang="en-US" sz="1100">
                            <a:solidFill>
                              <a:srgbClr val="333333"/>
                            </a:solidFill>
                            <a:latin typeface="Cambria Math" panose="02040503050406030204" pitchFamily="18" charset="0"/>
                          </a:rPr>
                          <m:t>Δ</m:t>
                        </m:r>
                      </m:e>
                    </m:d>
                  </m:oMath>
                </a14:m>
                <a:r>
                  <a:rPr sz="1100" b="0" dirty="0">
                    <a:solidFill>
                      <a:srgbClr val="333333"/>
                    </a:solidFill>
                    <a:latin typeface="Calibri"/>
                  </a:rPr>
                  <a:t>) were reducing variance, 4-bit should show a smaller-magnitude gap. Instead, it is slightly LARGER.</a:t>
                </a:r>
              </a:p>
            </p:txBody>
          </p:sp>
        </mc:Choice>
        <mc:Fallback xmlns="">
          <p:sp>
            <p:nvSpPr>
              <p:cNvPr id="6" name="TextBox 5"/>
              <p:cNvSpPr txBox="1">
                <a:spLocks noRot="1" noChangeAspect="1" noMove="1" noResize="1" noEditPoints="1" noAdjustHandles="1" noChangeArrowheads="1" noChangeShapeType="1" noTextEdit="1"/>
              </p:cNvSpPr>
              <p:nvPr/>
            </p:nvSpPr>
            <p:spPr>
              <a:xfrm>
                <a:off x="7589520" y="1234440"/>
                <a:ext cx="3657600" cy="2678554"/>
              </a:xfrm>
              <a:prstGeom prst="rect">
                <a:avLst/>
              </a:prstGeom>
              <a:blipFill>
                <a:blip r:embed="rId4"/>
                <a:stretch>
                  <a:fillRect t="-456"/>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TinyLlama H3: LoRA Rank x Quantization — Weak Trend Only</a:t>
            </a:r>
          </a:p>
        </p:txBody>
      </p:sp>
      <p:pic>
        <p:nvPicPr>
          <p:cNvPr id="4" name="Picture 3" descr="cell_33_out_00.png"/>
          <p:cNvPicPr>
            <a:picLocks noChangeAspect="1"/>
          </p:cNvPicPr>
          <p:nvPr/>
        </p:nvPicPr>
        <p:blipFill>
          <a:blip r:embed="rId3"/>
          <a:stretch>
            <a:fillRect/>
          </a:stretch>
        </p:blipFill>
        <p:spPr>
          <a:xfrm>
            <a:off x="274320" y="914400"/>
            <a:ext cx="10972800" cy="3793433"/>
          </a:xfrm>
          <a:prstGeom prst="rect">
            <a:avLst/>
          </a:prstGeom>
        </p:spPr>
      </p:pic>
      <p:sp>
        <p:nvSpPr>
          <p:cNvPr id="5" name="Rounded Rectangle 4"/>
          <p:cNvSpPr/>
          <p:nvPr/>
        </p:nvSpPr>
        <p:spPr>
          <a:xfrm>
            <a:off x="701040" y="5010573"/>
            <a:ext cx="10789920" cy="1085427"/>
          </a:xfrm>
          <a:prstGeom prst="roundRect">
            <a:avLst/>
          </a:prstGeom>
          <a:solidFill>
            <a:srgbClr val="FFF8E1"/>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5360" y="5102013"/>
            <a:ext cx="10332720" cy="1188720"/>
          </a:xfrm>
          <a:prstGeom prst="rect">
            <a:avLst/>
          </a:prstGeom>
          <a:noFill/>
        </p:spPr>
        <p:txBody>
          <a:bodyPr wrap="square">
            <a:spAutoFit/>
          </a:bodyPr>
          <a:lstStyle/>
          <a:p>
            <a:pPr algn="l">
              <a:spcAft>
                <a:spcPts val="400"/>
              </a:spcAft>
            </a:pPr>
            <a:r>
              <a:rPr sz="1300" b="1" dirty="0">
                <a:solidFill>
                  <a:srgbClr val="E67E22"/>
                </a:solidFill>
                <a:latin typeface="Georgia"/>
              </a:rPr>
              <a:t>H3 at 1.1B: Weak, inconclusive trend</a:t>
            </a:r>
          </a:p>
          <a:p>
            <a:pPr algn="l">
              <a:spcAft>
                <a:spcPts val="400"/>
              </a:spcAft>
            </a:pPr>
            <a:r>
              <a:rPr sz="1200" b="0" dirty="0">
                <a:solidFill>
                  <a:srgbClr val="333333"/>
                </a:solidFill>
                <a:latin typeface="Calibri"/>
              </a:rPr>
              <a:t>Mean 4-bit penalty:  r=4: 0.013  |  r=16: 0.013  |  r=64: 0.015 — differences within noise.</a:t>
            </a:r>
          </a:p>
          <a:p>
            <a:pPr algn="l">
              <a:spcAft>
                <a:spcPts val="400"/>
              </a:spcAft>
            </a:pPr>
            <a:r>
              <a:rPr sz="1200" b="0" dirty="0">
                <a:solidFill>
                  <a:srgbClr val="333333"/>
                </a:solidFill>
                <a:latin typeface="Calibri"/>
              </a:rPr>
              <a:t>The direction is consistent with H3 (penalty grows with rank), but the magnitude is too small relative to run-to-run variance to claim support.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6858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515600" cy="1371600"/>
          </a:xfrm>
          <a:prstGeom prst="rect">
            <a:avLst/>
          </a:prstGeom>
          <a:noFill/>
        </p:spPr>
        <p:txBody>
          <a:bodyPr wrap="square">
            <a:spAutoFit/>
          </a:bodyPr>
          <a:lstStyle/>
          <a:p>
            <a:pPr algn="ctr">
              <a:defRPr sz="3600" b="1">
                <a:solidFill>
                  <a:srgbClr val="FFFFFF"/>
                </a:solidFill>
                <a:latin typeface="Georgia"/>
              </a:defRPr>
            </a:pPr>
            <a:r>
              <a:t>Mistral-7B Results</a:t>
            </a:r>
          </a:p>
        </p:txBody>
      </p:sp>
      <p:sp>
        <p:nvSpPr>
          <p:cNvPr id="4" name="TextBox 3"/>
          <p:cNvSpPr txBox="1"/>
          <p:nvPr/>
        </p:nvSpPr>
        <p:spPr>
          <a:xfrm>
            <a:off x="914400" y="2743200"/>
            <a:ext cx="10515600" cy="731520"/>
          </a:xfrm>
          <a:prstGeom prst="rect">
            <a:avLst/>
          </a:prstGeom>
          <a:noFill/>
        </p:spPr>
        <p:txBody>
          <a:bodyPr wrap="square">
            <a:spAutoFit/>
          </a:bodyPr>
          <a:lstStyle/>
          <a:p>
            <a:pPr algn="ctr">
              <a:defRPr sz="1600" b="0">
                <a:solidFill>
                  <a:srgbClr val="CADCFC"/>
                </a:solidFill>
                <a:latin typeface="Calibri"/>
              </a:defRPr>
            </a:pPr>
            <a:r>
              <a:t>48 experiments  •  3 precisions  •  4 data sizes  •  2 ranks  •  2 seeds</a:t>
            </a:r>
          </a:p>
        </p:txBody>
      </p:sp>
      <p:sp>
        <p:nvSpPr>
          <p:cNvPr id="5" name="Rounded Rectangle 4"/>
          <p:cNvSpPr/>
          <p:nvPr/>
        </p:nvSpPr>
        <p:spPr>
          <a:xfrm>
            <a:off x="4114800" y="3657600"/>
            <a:ext cx="4114800" cy="36576"/>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4114800"/>
            <a:ext cx="8686800" cy="369332"/>
          </a:xfrm>
          <a:prstGeom prst="rect">
            <a:avLst/>
          </a:prstGeom>
          <a:noFill/>
        </p:spPr>
        <p:txBody>
          <a:bodyPr wrap="square">
            <a:spAutoFit/>
          </a:bodyPr>
          <a:lstStyle/>
          <a:p>
            <a:pPr algn="ctr">
              <a:defRPr sz="1800" b="1">
                <a:solidFill>
                  <a:srgbClr val="66BB6A"/>
                </a:solidFill>
                <a:latin typeface="Calibri"/>
              </a:defRPr>
            </a:pPr>
            <a:r>
              <a:rPr lang="en-US" dirty="0"/>
              <a:t>Spoiler: </a:t>
            </a:r>
            <a:r>
              <a:rPr dirty="0"/>
              <a:t>A qualitatively different picture emerges at scale</a:t>
            </a:r>
          </a:p>
        </p:txBody>
      </p:sp>
      <p:sp>
        <p:nvSpPr>
          <p:cNvPr id="7" name="TextBox 6"/>
          <p:cNvSpPr txBox="1"/>
          <p:nvPr/>
        </p:nvSpPr>
        <p:spPr>
          <a:xfrm>
            <a:off x="1828800" y="4846320"/>
            <a:ext cx="8686800" cy="731520"/>
          </a:xfrm>
          <a:prstGeom prst="rect">
            <a:avLst/>
          </a:prstGeom>
          <a:noFill/>
        </p:spPr>
        <p:txBody>
          <a:bodyPr wrap="square">
            <a:spAutoFit/>
          </a:bodyPr>
          <a:lstStyle/>
          <a:p>
            <a:pPr algn="ctr">
              <a:defRPr sz="2000" b="1">
                <a:solidFill>
                  <a:srgbClr val="FFFFFF"/>
                </a:solidFill>
                <a:latin typeface="Georgia"/>
              </a:defRPr>
            </a:pPr>
            <a:r>
              <a:t>8-bit quantization outperforms FP16 at every data size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Mistral-7B: 8-bit Beats FP16 at EVERY Data Size</a:t>
            </a: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200" b="0">
                <a:solidFill>
                  <a:srgbClr val="666666"/>
                </a:solidFill>
                <a:latin typeface="Calibri"/>
              </a:defRPr>
            </a:pPr>
            <a:r>
              <a:t>Mean Test NLL (+/- std) across 2 LoRA ranks and 2 seeds (4 runs per cell)</a:t>
            </a:r>
          </a:p>
        </p:txBody>
      </p:sp>
      <p:sp>
        <p:nvSpPr>
          <p:cNvPr id="6" name="Rounded Rectangle 5"/>
          <p:cNvSpPr/>
          <p:nvPr/>
        </p:nvSpPr>
        <p:spPr>
          <a:xfrm>
            <a:off x="731520" y="3383280"/>
            <a:ext cx="5212080" cy="2651760"/>
          </a:xfrm>
          <a:prstGeom prst="roundRect">
            <a:avLst/>
          </a:prstGeom>
          <a:solidFill>
            <a:srgbClr val="E8F5E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474720"/>
            <a:ext cx="4754880" cy="2468880"/>
          </a:xfrm>
          <a:prstGeom prst="rect">
            <a:avLst/>
          </a:prstGeom>
          <a:noFill/>
        </p:spPr>
        <p:txBody>
          <a:bodyPr wrap="square">
            <a:spAutoFit/>
          </a:bodyPr>
          <a:lstStyle/>
          <a:p>
            <a:pPr algn="l">
              <a:spcAft>
                <a:spcPts val="400"/>
              </a:spcAft>
            </a:pPr>
            <a:r>
              <a:rPr sz="1400" b="1">
                <a:solidFill>
                  <a:srgbClr val="27AE60"/>
                </a:solidFill>
                <a:latin typeface="Georgia"/>
              </a:rPr>
              <a:t>H1: SUPPORTED (for 8-bit!)</a:t>
            </a:r>
          </a:p>
          <a:p>
            <a:pPr algn="l">
              <a:spcAft>
                <a:spcPts val="400"/>
              </a:spcAft>
            </a:pPr>
            <a:endParaRPr sz="1400" b="1">
              <a:solidFill>
                <a:srgbClr val="27AE60"/>
              </a:solidFill>
              <a:latin typeface="Georgia"/>
            </a:endParaRPr>
          </a:p>
          <a:p>
            <a:pPr algn="l">
              <a:spcAft>
                <a:spcPts val="400"/>
              </a:spcAft>
            </a:pPr>
            <a:r>
              <a:rPr sz="1200" b="1">
                <a:solidFill>
                  <a:srgbClr val="333333"/>
                </a:solidFill>
                <a:latin typeface="Calibri"/>
              </a:rPr>
              <a:t>8-bit improvement over FP16:</a:t>
            </a:r>
          </a:p>
          <a:p>
            <a:pPr algn="l">
              <a:spcAft>
                <a:spcPts val="400"/>
              </a:spcAft>
            </a:pPr>
            <a:r>
              <a:rPr sz="1200" b="0">
                <a:solidFill>
                  <a:srgbClr val="333333"/>
                </a:solidFill>
                <a:latin typeface="Calibri"/>
              </a:rPr>
              <a:t>n=100:  Delta = -0.006 NLL</a:t>
            </a:r>
          </a:p>
          <a:p>
            <a:pPr algn="l">
              <a:spcAft>
                <a:spcPts val="400"/>
              </a:spcAft>
            </a:pPr>
            <a:r>
              <a:rPr sz="1200" b="0">
                <a:solidFill>
                  <a:srgbClr val="333333"/>
                </a:solidFill>
                <a:latin typeface="Calibri"/>
              </a:rPr>
              <a:t>n=500:  Delta = -0.005 NLL</a:t>
            </a:r>
          </a:p>
          <a:p>
            <a:pPr algn="l">
              <a:spcAft>
                <a:spcPts val="400"/>
              </a:spcAft>
            </a:pPr>
            <a:r>
              <a:rPr sz="1200" b="0">
                <a:solidFill>
                  <a:srgbClr val="333333"/>
                </a:solidFill>
                <a:latin typeface="Calibri"/>
              </a:rPr>
              <a:t>n=1000: Delta = -0.016 NLL</a:t>
            </a:r>
          </a:p>
          <a:p>
            <a:pPr algn="l">
              <a:spcAft>
                <a:spcPts val="400"/>
              </a:spcAft>
            </a:pPr>
            <a:r>
              <a:rPr sz="1200" b="0">
                <a:solidFill>
                  <a:srgbClr val="333333"/>
                </a:solidFill>
                <a:latin typeface="Calibri"/>
              </a:rPr>
              <a:t>n=5000: Delta = -0.021 NLL</a:t>
            </a:r>
          </a:p>
        </p:txBody>
      </p:sp>
      <p:sp>
        <p:nvSpPr>
          <p:cNvPr id="8" name="Rounded Rectangle 7"/>
          <p:cNvSpPr/>
          <p:nvPr/>
        </p:nvSpPr>
        <p:spPr>
          <a:xfrm>
            <a:off x="6217920" y="3383280"/>
            <a:ext cx="5212080" cy="2651760"/>
          </a:xfrm>
          <a:prstGeom prst="roundRect">
            <a:avLst/>
          </a:prstGeom>
          <a:solidFill>
            <a:srgbClr val="FFF3E0"/>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3474720"/>
            <a:ext cx="4754880" cy="1928733"/>
          </a:xfrm>
          <a:prstGeom prst="rect">
            <a:avLst/>
          </a:prstGeom>
          <a:noFill/>
        </p:spPr>
        <p:txBody>
          <a:bodyPr wrap="square">
            <a:spAutoFit/>
          </a:bodyPr>
          <a:lstStyle/>
          <a:p>
            <a:pPr algn="l">
              <a:spcAft>
                <a:spcPts val="400"/>
              </a:spcAft>
            </a:pPr>
            <a:r>
              <a:rPr sz="1400" b="1" dirty="0">
                <a:solidFill>
                  <a:srgbClr val="E67E22"/>
                </a:solidFill>
                <a:latin typeface="Georgia"/>
              </a:rPr>
              <a:t>H2: INVERTED!</a:t>
            </a:r>
          </a:p>
          <a:p>
            <a:pPr algn="l">
              <a:spcAft>
                <a:spcPts val="400"/>
              </a:spcAft>
            </a:pPr>
            <a:endParaRPr sz="1400" b="1" dirty="0">
              <a:solidFill>
                <a:srgbClr val="E67E22"/>
              </a:solidFill>
              <a:latin typeface="Georgia"/>
            </a:endParaRPr>
          </a:p>
          <a:p>
            <a:pPr algn="l">
              <a:spcAft>
                <a:spcPts val="400"/>
              </a:spcAft>
            </a:pPr>
            <a:r>
              <a:rPr sz="1200" b="1" dirty="0">
                <a:solidFill>
                  <a:srgbClr val="333333"/>
                </a:solidFill>
                <a:latin typeface="Calibri"/>
              </a:rPr>
              <a:t>8-bit benefit GROWS with data,</a:t>
            </a:r>
            <a:r>
              <a:rPr lang="en-US" sz="1200" b="1" dirty="0">
                <a:solidFill>
                  <a:srgbClr val="333333"/>
                </a:solidFill>
                <a:latin typeface="Calibri"/>
              </a:rPr>
              <a:t> </a:t>
            </a:r>
            <a:r>
              <a:rPr sz="1200" b="1" dirty="0">
                <a:solidFill>
                  <a:srgbClr val="333333"/>
                </a:solidFill>
                <a:latin typeface="Calibri"/>
              </a:rPr>
              <a:t>opposite of H2 prediction!</a:t>
            </a:r>
          </a:p>
          <a:p>
            <a:pPr algn="l">
              <a:spcAft>
                <a:spcPts val="400"/>
              </a:spcAft>
            </a:pPr>
            <a:endParaRPr sz="1200" b="1" dirty="0">
              <a:solidFill>
                <a:srgbClr val="333333"/>
              </a:solidFill>
              <a:latin typeface="Calibri"/>
            </a:endParaRPr>
          </a:p>
          <a:p>
            <a:pPr algn="l">
              <a:spcAft>
                <a:spcPts val="400"/>
              </a:spcAft>
            </a:pPr>
            <a:r>
              <a:rPr sz="1100" b="0" dirty="0">
                <a:solidFill>
                  <a:srgbClr val="333333"/>
                </a:solidFill>
                <a:latin typeface="Calibri"/>
              </a:rPr>
              <a:t>Explanation: With more data,</a:t>
            </a:r>
          </a:p>
          <a:p>
            <a:pPr algn="l">
              <a:spcAft>
                <a:spcPts val="400"/>
              </a:spcAft>
            </a:pPr>
            <a:r>
              <a:rPr sz="1100" b="0" dirty="0">
                <a:solidFill>
                  <a:srgbClr val="333333"/>
                </a:solidFill>
                <a:latin typeface="Calibri"/>
              </a:rPr>
              <a:t>FP16 reaches sharper minima;</a:t>
            </a:r>
          </a:p>
          <a:p>
            <a:pPr algn="l">
              <a:spcAft>
                <a:spcPts val="400"/>
              </a:spcAft>
            </a:pPr>
            <a:r>
              <a:rPr sz="1100" b="0" dirty="0">
                <a:solidFill>
                  <a:srgbClr val="333333"/>
                </a:solidFill>
                <a:latin typeface="Calibri"/>
              </a:rPr>
              <a:t>8-bit is forced to stay in flatter</a:t>
            </a:r>
          </a:p>
          <a:p>
            <a:pPr algn="l">
              <a:spcAft>
                <a:spcPts val="400"/>
              </a:spcAft>
            </a:pPr>
            <a:r>
              <a:rPr sz="1100" b="0" dirty="0">
                <a:solidFill>
                  <a:srgbClr val="333333"/>
                </a:solidFill>
                <a:latin typeface="Calibri"/>
              </a:rPr>
              <a:t>regions that generalize better.</a:t>
            </a:r>
          </a:p>
        </p:txBody>
      </p:sp>
      <p:pic>
        <p:nvPicPr>
          <p:cNvPr id="11" name="Picture 10">
            <a:extLst>
              <a:ext uri="{FF2B5EF4-FFF2-40B4-BE49-F238E27FC236}">
                <a16:creationId xmlns:a16="http://schemas.microsoft.com/office/drawing/2014/main" id="{878FAC97-A9E1-EE77-C0C4-4E3745B2D6D7}"/>
              </a:ext>
            </a:extLst>
          </p:cNvPr>
          <p:cNvPicPr>
            <a:picLocks noChangeAspect="1"/>
          </p:cNvPicPr>
          <p:nvPr/>
        </p:nvPicPr>
        <p:blipFill>
          <a:blip r:embed="rId3"/>
          <a:stretch>
            <a:fillRect/>
          </a:stretch>
        </p:blipFill>
        <p:spPr>
          <a:xfrm>
            <a:off x="1044462" y="1463040"/>
            <a:ext cx="9798275" cy="14893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Mistral-7B: 8-bit Consistently Below FP16</a:t>
            </a:r>
          </a:p>
        </p:txBody>
      </p:sp>
      <p:pic>
        <p:nvPicPr>
          <p:cNvPr id="4" name="Picture 3" descr="cell_56_out_00.png"/>
          <p:cNvPicPr>
            <a:picLocks noChangeAspect="1"/>
          </p:cNvPicPr>
          <p:nvPr/>
        </p:nvPicPr>
        <p:blipFill>
          <a:blip r:embed="rId3"/>
          <a:stretch>
            <a:fillRect/>
          </a:stretch>
        </p:blipFill>
        <p:spPr>
          <a:xfrm>
            <a:off x="457200" y="914400"/>
            <a:ext cx="6858000" cy="4070195"/>
          </a:xfrm>
          <a:prstGeom prst="rect">
            <a:avLst/>
          </a:prstGeom>
        </p:spPr>
      </p:pic>
      <p:sp>
        <p:nvSpPr>
          <p:cNvPr id="5" name="Rounded Rectangle 4"/>
          <p:cNvSpPr/>
          <p:nvPr/>
        </p:nvSpPr>
        <p:spPr>
          <a:xfrm>
            <a:off x="7498079" y="1097280"/>
            <a:ext cx="3931920" cy="3200400"/>
          </a:xfrm>
          <a:prstGeom prst="roundRect">
            <a:avLst/>
          </a:prstGeom>
          <a:solidFill>
            <a:srgbClr val="E8F5E9"/>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1234440"/>
            <a:ext cx="3474720" cy="2926080"/>
          </a:xfrm>
          <a:prstGeom prst="rect">
            <a:avLst/>
          </a:prstGeom>
          <a:noFill/>
        </p:spPr>
        <p:txBody>
          <a:bodyPr wrap="square">
            <a:spAutoFit/>
          </a:bodyPr>
          <a:lstStyle/>
          <a:p>
            <a:pPr algn="l">
              <a:spcAft>
                <a:spcPts val="400"/>
              </a:spcAft>
            </a:pPr>
            <a:r>
              <a:rPr sz="1300" b="1">
                <a:solidFill>
                  <a:srgbClr val="27AE60"/>
                </a:solidFill>
                <a:latin typeface="Georgia"/>
              </a:rPr>
              <a:t>Compare with TinyLlama:</a:t>
            </a:r>
          </a:p>
          <a:p>
            <a:pPr algn="l">
              <a:spcAft>
                <a:spcPts val="400"/>
              </a:spcAft>
            </a:pPr>
            <a:endParaRPr sz="1300" b="1">
              <a:solidFill>
                <a:srgbClr val="27AE60"/>
              </a:solidFill>
              <a:latin typeface="Georgia"/>
            </a:endParaRPr>
          </a:p>
          <a:p>
            <a:pPr algn="l">
              <a:spcAft>
                <a:spcPts val="400"/>
              </a:spcAft>
            </a:pPr>
            <a:r>
              <a:rPr sz="1100" b="0">
                <a:solidFill>
                  <a:srgbClr val="333333"/>
                </a:solidFill>
                <a:latin typeface="Calibri"/>
              </a:rPr>
              <a:t>TinyLlama: FP16 = 8-bit &gt;&gt; 4-bit</a:t>
            </a:r>
          </a:p>
          <a:p>
            <a:pPr algn="l">
              <a:spcAft>
                <a:spcPts val="400"/>
              </a:spcAft>
            </a:pPr>
            <a:r>
              <a:rPr sz="1000" b="0">
                <a:solidFill>
                  <a:srgbClr val="666666"/>
                </a:solidFill>
                <a:latin typeface="Calibri"/>
              </a:rPr>
              <a:t>(Curves overlap, 4-bit above)</a:t>
            </a:r>
          </a:p>
          <a:p>
            <a:pPr algn="l">
              <a:spcAft>
                <a:spcPts val="400"/>
              </a:spcAft>
            </a:pPr>
            <a:endParaRPr sz="1000" b="0">
              <a:solidFill>
                <a:srgbClr val="666666"/>
              </a:solidFill>
              <a:latin typeface="Calibri"/>
            </a:endParaRPr>
          </a:p>
          <a:p>
            <a:pPr algn="l">
              <a:spcAft>
                <a:spcPts val="400"/>
              </a:spcAft>
            </a:pPr>
            <a:r>
              <a:rPr sz="1100" b="1">
                <a:solidFill>
                  <a:srgbClr val="27AE60"/>
                </a:solidFill>
                <a:latin typeface="Calibri"/>
              </a:rPr>
              <a:t>Mistral-7B: 8-bit &lt; FP16 &lt; 4-bit</a:t>
            </a:r>
          </a:p>
          <a:p>
            <a:pPr algn="l">
              <a:spcAft>
                <a:spcPts val="400"/>
              </a:spcAft>
            </a:pPr>
            <a:r>
              <a:rPr sz="1000" b="0">
                <a:solidFill>
                  <a:srgbClr val="27AE60"/>
                </a:solidFill>
                <a:latin typeface="Calibri"/>
              </a:rPr>
              <a:t>(8-bit is BELOW FP16!)</a:t>
            </a:r>
          </a:p>
          <a:p>
            <a:pPr algn="l">
              <a:spcAft>
                <a:spcPts val="400"/>
              </a:spcAft>
            </a:pPr>
            <a:endParaRPr sz="1000" b="0">
              <a:solidFill>
                <a:srgbClr val="27AE60"/>
              </a:solidFill>
              <a:latin typeface="Calibri"/>
            </a:endParaRPr>
          </a:p>
          <a:p>
            <a:pPr algn="l">
              <a:spcAft>
                <a:spcPts val="400"/>
              </a:spcAft>
            </a:pPr>
            <a:r>
              <a:rPr sz="1100" b="1">
                <a:solidFill>
                  <a:srgbClr val="333333"/>
                </a:solidFill>
                <a:latin typeface="Calibri"/>
              </a:rPr>
              <a:t>The ordering reverses at 7B scale.</a:t>
            </a:r>
          </a:p>
          <a:p>
            <a:pPr algn="l">
              <a:spcAft>
                <a:spcPts val="400"/>
              </a:spcAft>
            </a:pPr>
            <a:r>
              <a:rPr sz="1100" b="0">
                <a:solidFill>
                  <a:srgbClr val="333333"/>
                </a:solidFill>
                <a:latin typeface="Calibri"/>
              </a:rPr>
              <a:t>This is the scale-dependent effect.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400" b="1">
                <a:solidFill>
                  <a:srgbClr val="FFFFFF"/>
                </a:solidFill>
                <a:latin typeface="Georgia"/>
              </a:defRPr>
            </a:pPr>
            <a:r>
              <a:t>Mistral-7B H3: Rank x Quantization — Strongly Supported</a:t>
            </a:r>
          </a:p>
        </p:txBody>
      </p:sp>
      <p:pic>
        <p:nvPicPr>
          <p:cNvPr id="4" name="Picture 3" descr="cell_60_out_00.png"/>
          <p:cNvPicPr>
            <a:picLocks noChangeAspect="1"/>
          </p:cNvPicPr>
          <p:nvPr/>
        </p:nvPicPr>
        <p:blipFill>
          <a:blip r:embed="rId3"/>
          <a:stretch>
            <a:fillRect/>
          </a:stretch>
        </p:blipFill>
        <p:spPr>
          <a:xfrm>
            <a:off x="3197860" y="960120"/>
            <a:ext cx="5796279" cy="2743200"/>
          </a:xfrm>
          <a:prstGeom prst="rect">
            <a:avLst/>
          </a:prstGeom>
        </p:spPr>
      </p:pic>
      <p:pic>
        <p:nvPicPr>
          <p:cNvPr id="5" name="Picture 4" descr="h3_explanation.png"/>
          <p:cNvPicPr>
            <a:picLocks noChangeAspect="1"/>
          </p:cNvPicPr>
          <p:nvPr/>
        </p:nvPicPr>
        <p:blipFill>
          <a:blip r:embed="rId4"/>
          <a:stretch>
            <a:fillRect/>
          </a:stretch>
        </p:blipFill>
        <p:spPr>
          <a:xfrm>
            <a:off x="2842260" y="3984413"/>
            <a:ext cx="6507480" cy="25603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The Key Finding: Scale-Dependent Regularization</a:t>
            </a:r>
          </a:p>
        </p:txBody>
      </p:sp>
      <p:pic>
        <p:nvPicPr>
          <p:cNvPr id="4" name="Picture 3" descr="scale_comparison.png"/>
          <p:cNvPicPr>
            <a:picLocks noChangeAspect="1"/>
          </p:cNvPicPr>
          <p:nvPr/>
        </p:nvPicPr>
        <p:blipFill>
          <a:blip r:embed="rId3"/>
          <a:stretch>
            <a:fillRect/>
          </a:stretch>
        </p:blipFill>
        <p:spPr>
          <a:xfrm>
            <a:off x="2639483" y="1053253"/>
            <a:ext cx="6608233" cy="2560320"/>
          </a:xfrm>
          <a:prstGeom prst="rect">
            <a:avLst/>
          </a:prstGeom>
        </p:spPr>
      </p:pic>
      <p:pic>
        <p:nvPicPr>
          <p:cNvPr id="5" name="Picture 4" descr="why_scale.png"/>
          <p:cNvPicPr>
            <a:picLocks noChangeAspect="1"/>
          </p:cNvPicPr>
          <p:nvPr/>
        </p:nvPicPr>
        <p:blipFill>
          <a:blip r:embed="rId4"/>
          <a:stretch>
            <a:fillRect/>
          </a:stretch>
        </p:blipFill>
        <p:spPr>
          <a:xfrm>
            <a:off x="3130289" y="3843867"/>
            <a:ext cx="5931421" cy="27775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Discussion: Three Mechanisms Explaining the Results</a:t>
            </a:r>
          </a:p>
        </p:txBody>
      </p:sp>
      <p:sp>
        <p:nvSpPr>
          <p:cNvPr id="4" name="Rounded Rectangle 3"/>
          <p:cNvSpPr/>
          <p:nvPr/>
        </p:nvSpPr>
        <p:spPr>
          <a:xfrm>
            <a:off x="457200" y="1097280"/>
            <a:ext cx="3383280" cy="3200400"/>
          </a:xfrm>
          <a:prstGeom prst="roundRect">
            <a:avLst/>
          </a:prstGeom>
          <a:solidFill>
            <a:srgbClr val="FFEBEE"/>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2926080" cy="2616101"/>
          </a:xfrm>
          <a:prstGeom prst="rect">
            <a:avLst/>
          </a:prstGeom>
          <a:noFill/>
        </p:spPr>
        <p:txBody>
          <a:bodyPr wrap="square">
            <a:spAutoFit/>
          </a:bodyPr>
          <a:lstStyle/>
          <a:p>
            <a:pPr algn="l">
              <a:spcAft>
                <a:spcPts val="400"/>
              </a:spcAft>
            </a:pPr>
            <a:r>
              <a:rPr sz="1600" b="1" dirty="0">
                <a:solidFill>
                  <a:srgbClr val="C0392B"/>
                </a:solidFill>
                <a:latin typeface="Georgia"/>
              </a:rPr>
              <a:t>1. Capacity Loss vs. Gain</a:t>
            </a:r>
          </a:p>
          <a:p>
            <a:pPr algn="l">
              <a:spcAft>
                <a:spcPts val="400"/>
              </a:spcAft>
            </a:pPr>
            <a:endParaRPr sz="1600" b="1" dirty="0">
              <a:solidFill>
                <a:srgbClr val="C0392B"/>
              </a:solidFill>
              <a:latin typeface="Georgia"/>
            </a:endParaRPr>
          </a:p>
          <a:p>
            <a:pPr algn="l">
              <a:spcAft>
                <a:spcPts val="400"/>
              </a:spcAft>
            </a:pPr>
            <a:r>
              <a:rPr sz="1400" b="0" dirty="0">
                <a:solidFill>
                  <a:srgbClr val="333333"/>
                </a:solidFill>
                <a:latin typeface="Calibri"/>
              </a:rPr>
              <a:t>At 1.1B: quantization destroys representations the model needs</a:t>
            </a:r>
          </a:p>
          <a:p>
            <a:pPr algn="l">
              <a:spcAft>
                <a:spcPts val="400"/>
              </a:spcAft>
            </a:pPr>
            <a:endParaRPr sz="1400" b="0" dirty="0">
              <a:solidFill>
                <a:srgbClr val="333333"/>
              </a:solidFill>
              <a:latin typeface="Calibri"/>
            </a:endParaRPr>
          </a:p>
          <a:p>
            <a:pPr algn="l">
              <a:spcAft>
                <a:spcPts val="400"/>
              </a:spcAft>
            </a:pPr>
            <a:r>
              <a:rPr sz="1400" b="0" dirty="0">
                <a:solidFill>
                  <a:srgbClr val="333333"/>
                </a:solidFill>
                <a:latin typeface="Calibri"/>
              </a:rPr>
              <a:t>At 7B: 8-bit trims excess capacity the model does NOT need</a:t>
            </a:r>
          </a:p>
          <a:p>
            <a:pPr algn="l">
              <a:spcAft>
                <a:spcPts val="400"/>
              </a:spcAft>
            </a:pPr>
            <a:endParaRPr sz="1400" b="0" dirty="0">
              <a:solidFill>
                <a:srgbClr val="333333"/>
              </a:solidFill>
              <a:latin typeface="Calibri"/>
            </a:endParaRPr>
          </a:p>
          <a:p>
            <a:pPr algn="l">
              <a:spcAft>
                <a:spcPts val="400"/>
              </a:spcAft>
            </a:pPr>
            <a:r>
              <a:rPr sz="1400" b="0" dirty="0">
                <a:solidFill>
                  <a:srgbClr val="666666"/>
                </a:solidFill>
                <a:latin typeface="Calibri"/>
              </a:rPr>
              <a:t>4-bit is too aggressive at both scales (mostly)</a:t>
            </a:r>
          </a:p>
        </p:txBody>
      </p:sp>
      <p:sp>
        <p:nvSpPr>
          <p:cNvPr id="6" name="Rounded Rectangle 5"/>
          <p:cNvSpPr/>
          <p:nvPr/>
        </p:nvSpPr>
        <p:spPr>
          <a:xfrm>
            <a:off x="4023360" y="1097280"/>
            <a:ext cx="3383280" cy="3200400"/>
          </a:xfrm>
          <a:prstGeom prst="roundRect">
            <a:avLst/>
          </a:prstGeom>
          <a:solidFill>
            <a:srgbClr val="E3F2FD"/>
          </a:solidFill>
          <a:ln w="2540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97680" y="1234440"/>
            <a:ext cx="2926080" cy="2831544"/>
          </a:xfrm>
          <a:prstGeom prst="rect">
            <a:avLst/>
          </a:prstGeom>
          <a:noFill/>
        </p:spPr>
        <p:txBody>
          <a:bodyPr wrap="square">
            <a:spAutoFit/>
          </a:bodyPr>
          <a:lstStyle/>
          <a:p>
            <a:pPr algn="l">
              <a:spcAft>
                <a:spcPts val="400"/>
              </a:spcAft>
            </a:pPr>
            <a:r>
              <a:rPr sz="1600" b="1" dirty="0">
                <a:solidFill>
                  <a:srgbClr val="2196F3"/>
                </a:solidFill>
                <a:latin typeface="Georgia"/>
              </a:rPr>
              <a:t>2. Loss Landscape</a:t>
            </a:r>
          </a:p>
          <a:p>
            <a:pPr algn="l">
              <a:spcAft>
                <a:spcPts val="400"/>
              </a:spcAft>
            </a:pPr>
            <a:endParaRPr sz="1600" b="1" dirty="0">
              <a:solidFill>
                <a:srgbClr val="2196F3"/>
              </a:solidFill>
              <a:latin typeface="Georgia"/>
            </a:endParaRPr>
          </a:p>
          <a:p>
            <a:pPr algn="l">
              <a:spcAft>
                <a:spcPts val="400"/>
              </a:spcAft>
            </a:pPr>
            <a:r>
              <a:rPr sz="1400" b="0" dirty="0">
                <a:solidFill>
                  <a:srgbClr val="333333"/>
                </a:solidFill>
                <a:latin typeface="Calibri"/>
              </a:rPr>
              <a:t>Larger models have sharper loss landscapes</a:t>
            </a:r>
          </a:p>
          <a:p>
            <a:pPr algn="l">
              <a:spcAft>
                <a:spcPts val="400"/>
              </a:spcAft>
            </a:pPr>
            <a:endParaRPr sz="1400" b="0" dirty="0">
              <a:solidFill>
                <a:srgbClr val="333333"/>
              </a:solidFill>
              <a:latin typeface="Calibri"/>
            </a:endParaRPr>
          </a:p>
          <a:p>
            <a:pPr algn="l">
              <a:spcAft>
                <a:spcPts val="400"/>
              </a:spcAft>
            </a:pPr>
            <a:r>
              <a:rPr sz="1400" b="0" dirty="0" err="1">
                <a:solidFill>
                  <a:srgbClr val="333333"/>
                </a:solidFill>
                <a:latin typeface="Calibri"/>
              </a:rPr>
              <a:t>QGen</a:t>
            </a:r>
            <a:r>
              <a:rPr sz="1400" b="0" dirty="0">
                <a:solidFill>
                  <a:srgbClr val="333333"/>
                </a:solidFill>
                <a:latin typeface="Calibri"/>
              </a:rPr>
              <a:t> theory: quantization noise smooths toward flatter minima</a:t>
            </a:r>
          </a:p>
          <a:p>
            <a:pPr algn="l">
              <a:spcAft>
                <a:spcPts val="400"/>
              </a:spcAft>
            </a:pPr>
            <a:endParaRPr sz="1400" b="0" dirty="0">
              <a:solidFill>
                <a:srgbClr val="333333"/>
              </a:solidFill>
              <a:latin typeface="Calibri"/>
            </a:endParaRPr>
          </a:p>
          <a:p>
            <a:pPr algn="l">
              <a:spcAft>
                <a:spcPts val="400"/>
              </a:spcAft>
            </a:pPr>
            <a:r>
              <a:rPr sz="1400" b="1" dirty="0">
                <a:solidFill>
                  <a:srgbClr val="333333"/>
                </a:solidFill>
                <a:latin typeface="Calibri"/>
              </a:rPr>
              <a:t>More data = longer training = sharper minima = more benefit from smoothing</a:t>
            </a:r>
          </a:p>
        </p:txBody>
      </p:sp>
      <p:sp>
        <p:nvSpPr>
          <p:cNvPr id="8" name="Rounded Rectangle 7"/>
          <p:cNvSpPr/>
          <p:nvPr/>
        </p:nvSpPr>
        <p:spPr>
          <a:xfrm>
            <a:off x="7589520" y="1097280"/>
            <a:ext cx="3383280" cy="3200400"/>
          </a:xfrm>
          <a:prstGeom prst="roundRect">
            <a:avLst/>
          </a:prstGeom>
          <a:solidFill>
            <a:srgbClr val="E8F5E9"/>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0" y="1234440"/>
            <a:ext cx="2926080" cy="2616101"/>
          </a:xfrm>
          <a:prstGeom prst="rect">
            <a:avLst/>
          </a:prstGeom>
          <a:noFill/>
        </p:spPr>
        <p:txBody>
          <a:bodyPr wrap="square">
            <a:spAutoFit/>
          </a:bodyPr>
          <a:lstStyle/>
          <a:p>
            <a:pPr algn="l">
              <a:spcAft>
                <a:spcPts val="400"/>
              </a:spcAft>
            </a:pPr>
            <a:r>
              <a:rPr sz="1600" b="1" dirty="0">
                <a:solidFill>
                  <a:srgbClr val="27AE60"/>
                </a:solidFill>
                <a:latin typeface="Georgia"/>
              </a:rPr>
              <a:t>3. Deterministic Noise</a:t>
            </a:r>
          </a:p>
          <a:p>
            <a:pPr algn="l">
              <a:spcAft>
                <a:spcPts val="400"/>
              </a:spcAft>
            </a:pPr>
            <a:endParaRPr sz="1600" b="1" dirty="0">
              <a:solidFill>
                <a:srgbClr val="27AE60"/>
              </a:solidFill>
              <a:latin typeface="Georgia"/>
            </a:endParaRPr>
          </a:p>
          <a:p>
            <a:pPr algn="l">
              <a:spcAft>
                <a:spcPts val="400"/>
              </a:spcAft>
            </a:pPr>
            <a:r>
              <a:rPr sz="1400" b="0" dirty="0">
                <a:solidFill>
                  <a:srgbClr val="333333"/>
                </a:solidFill>
                <a:latin typeface="Calibri"/>
              </a:rPr>
              <a:t>Unlike dropout (random), quantization noise is FIXED</a:t>
            </a:r>
          </a:p>
          <a:p>
            <a:pPr algn="l">
              <a:spcAft>
                <a:spcPts val="400"/>
              </a:spcAft>
            </a:pPr>
            <a:endParaRPr sz="1400" b="0" dirty="0">
              <a:solidFill>
                <a:srgbClr val="333333"/>
              </a:solidFill>
              <a:latin typeface="Calibri"/>
            </a:endParaRPr>
          </a:p>
          <a:p>
            <a:pPr algn="l">
              <a:spcAft>
                <a:spcPts val="400"/>
              </a:spcAft>
            </a:pPr>
            <a:r>
              <a:rPr sz="1400" b="0" dirty="0">
                <a:solidFill>
                  <a:srgbClr val="333333"/>
                </a:solidFill>
                <a:latin typeface="Calibri"/>
              </a:rPr>
              <a:t>At 1.1B: constant bias, no variance reduction</a:t>
            </a:r>
          </a:p>
          <a:p>
            <a:pPr algn="l">
              <a:spcAft>
                <a:spcPts val="400"/>
              </a:spcAft>
            </a:pPr>
            <a:endParaRPr sz="1400" b="0" dirty="0">
              <a:solidFill>
                <a:srgbClr val="333333"/>
              </a:solidFill>
              <a:latin typeface="Calibri"/>
            </a:endParaRPr>
          </a:p>
          <a:p>
            <a:pPr algn="l">
              <a:spcAft>
                <a:spcPts val="400"/>
              </a:spcAft>
            </a:pPr>
            <a:r>
              <a:rPr sz="1400" b="0" dirty="0">
                <a:solidFill>
                  <a:srgbClr val="333333"/>
                </a:solidFill>
                <a:latin typeface="Calibri"/>
              </a:rPr>
              <a:t>At 7B: the landscape smoothing mechanism overcomes this limitation</a:t>
            </a:r>
          </a:p>
        </p:txBody>
      </p:sp>
      <p:sp>
        <p:nvSpPr>
          <p:cNvPr id="10" name="Rounded Rectangle 9"/>
          <p:cNvSpPr/>
          <p:nvPr/>
        </p:nvSpPr>
        <p:spPr>
          <a:xfrm>
            <a:off x="457200" y="4683760"/>
            <a:ext cx="10972800" cy="939800"/>
          </a:xfrm>
          <a:prstGeom prst="roundRect">
            <a:avLst/>
          </a:prstGeom>
          <a:solidFill>
            <a:srgbClr val="F5F7FA"/>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053" y="4866640"/>
            <a:ext cx="10515600" cy="584775"/>
          </a:xfrm>
          <a:prstGeom prst="rect">
            <a:avLst/>
          </a:prstGeom>
          <a:noFill/>
        </p:spPr>
        <p:txBody>
          <a:bodyPr wrap="square">
            <a:spAutoFit/>
          </a:bodyPr>
          <a:lstStyle/>
          <a:p>
            <a:pPr algn="l">
              <a:spcAft>
                <a:spcPts val="400"/>
              </a:spcAft>
            </a:pPr>
            <a:r>
              <a:rPr sz="1600" b="1" dirty="0">
                <a:solidFill>
                  <a:srgbClr val="1E2761"/>
                </a:solidFill>
                <a:latin typeface="Calibri"/>
              </a:rPr>
              <a:t>Bottom line: </a:t>
            </a:r>
            <a:r>
              <a:rPr sz="1600" b="0" dirty="0">
                <a:solidFill>
                  <a:srgbClr val="333333"/>
                </a:solidFill>
                <a:latin typeface="Calibri"/>
              </a:rPr>
              <a:t>The regularization effect requires sufficient model capacity for noise to "trim." </a:t>
            </a:r>
            <a:r>
              <a:rPr sz="1600" b="0" dirty="0" err="1">
                <a:solidFill>
                  <a:srgbClr val="333333"/>
                </a:solidFill>
                <a:latin typeface="Calibri"/>
              </a:rPr>
              <a:t>LoRA</a:t>
            </a:r>
            <a:r>
              <a:rPr sz="1600" b="0" dirty="0">
                <a:solidFill>
                  <a:srgbClr val="333333"/>
                </a:solidFill>
                <a:latin typeface="Calibri"/>
              </a:rPr>
              <a:t> already regularizes small models; only large models have enough excess capacity for quantization to provide additional benefit.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600" b="1">
                <a:solidFill>
                  <a:srgbClr val="FFFFFF"/>
                </a:solidFill>
                <a:latin typeface="Georgia"/>
              </a:defRPr>
            </a:pPr>
            <a:r>
              <a:t>Practical Recommendations for Practitioners</a:t>
            </a:r>
          </a:p>
        </p:txBody>
      </p:sp>
      <p:sp>
        <p:nvSpPr>
          <p:cNvPr id="5" name="Rounded Rectangle 4"/>
          <p:cNvSpPr/>
          <p:nvPr/>
        </p:nvSpPr>
        <p:spPr>
          <a:xfrm>
            <a:off x="457200" y="3503506"/>
            <a:ext cx="5303520" cy="2926080"/>
          </a:xfrm>
          <a:prstGeom prst="roundRect">
            <a:avLst/>
          </a:prstGeom>
          <a:solidFill>
            <a:srgbClr val="FFEBEE"/>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640666"/>
            <a:ext cx="4846320" cy="2651760"/>
          </a:xfrm>
          <a:prstGeom prst="rect">
            <a:avLst/>
          </a:prstGeom>
          <a:noFill/>
        </p:spPr>
        <p:txBody>
          <a:bodyPr wrap="square">
            <a:spAutoFit/>
          </a:bodyPr>
          <a:lstStyle/>
          <a:p>
            <a:pPr algn="l">
              <a:spcAft>
                <a:spcPts val="400"/>
              </a:spcAft>
            </a:pPr>
            <a:r>
              <a:rPr sz="1300" b="1">
                <a:solidFill>
                  <a:srgbClr val="C0392B"/>
                </a:solidFill>
                <a:latin typeface="Georgia"/>
              </a:rPr>
              <a:t>Limitations:</a:t>
            </a:r>
          </a:p>
          <a:p>
            <a:pPr algn="l">
              <a:spcAft>
                <a:spcPts val="400"/>
              </a:spcAft>
            </a:pPr>
            <a:endParaRPr sz="1300" b="1">
              <a:solidFill>
                <a:srgbClr val="C0392B"/>
              </a:solidFill>
              <a:latin typeface="Georgia"/>
            </a:endParaRPr>
          </a:p>
          <a:p>
            <a:pPr algn="l">
              <a:spcAft>
                <a:spcPts val="400"/>
              </a:spcAft>
            </a:pPr>
            <a:r>
              <a:rPr sz="1100" b="0">
                <a:solidFill>
                  <a:srgbClr val="333333"/>
                </a:solidFill>
                <a:latin typeface="Calibri"/>
              </a:rPr>
              <a:t>Only 2 seeds at 7B (limited stat. power)</a:t>
            </a:r>
          </a:p>
          <a:p>
            <a:pPr algn="l">
              <a:spcAft>
                <a:spcPts val="400"/>
              </a:spcAft>
            </a:pPr>
            <a:r>
              <a:rPr sz="1100" b="0">
                <a:solidFill>
                  <a:srgbClr val="333333"/>
                </a:solidFill>
                <a:latin typeface="Calibri"/>
              </a:rPr>
              <a:t>Single task type (Alpaca instruction tuning)</a:t>
            </a:r>
          </a:p>
          <a:p>
            <a:pPr algn="l">
              <a:spcAft>
                <a:spcPts val="400"/>
              </a:spcAft>
            </a:pPr>
            <a:r>
              <a:rPr sz="1100" b="0">
                <a:solidFill>
                  <a:srgbClr val="333333"/>
                </a:solidFill>
                <a:latin typeface="Calibri"/>
              </a:rPr>
              <a:t>bitsandbytes-specific (GPTQ/AWQ may differ)</a:t>
            </a:r>
          </a:p>
          <a:p>
            <a:pPr algn="l">
              <a:spcAft>
                <a:spcPts val="400"/>
              </a:spcAft>
            </a:pPr>
            <a:r>
              <a:rPr sz="1100" b="0">
                <a:solidFill>
                  <a:srgbClr val="333333"/>
                </a:solidFill>
                <a:latin typeface="Calibri"/>
              </a:rPr>
              <a:t>PTQ only (QAT may have different effects)</a:t>
            </a:r>
          </a:p>
          <a:p>
            <a:pPr algn="l">
              <a:spcAft>
                <a:spcPts val="400"/>
              </a:spcAft>
            </a:pPr>
            <a:r>
              <a:rPr sz="1100" b="0">
                <a:solidFill>
                  <a:srgbClr val="333333"/>
                </a:solidFill>
                <a:latin typeface="Calibri"/>
              </a:rPr>
              <a:t>Fixed hyperparams (LR may differ by precision)</a:t>
            </a:r>
          </a:p>
        </p:txBody>
      </p:sp>
      <p:sp>
        <p:nvSpPr>
          <p:cNvPr id="7" name="Rounded Rectangle 6"/>
          <p:cNvSpPr/>
          <p:nvPr/>
        </p:nvSpPr>
        <p:spPr>
          <a:xfrm>
            <a:off x="6035040" y="3491867"/>
            <a:ext cx="5303520" cy="2926080"/>
          </a:xfrm>
          <a:prstGeom prst="roundRect">
            <a:avLst/>
          </a:prstGeom>
          <a:solidFill>
            <a:srgbClr val="E3F2FD"/>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3629027"/>
            <a:ext cx="4846320" cy="2651760"/>
          </a:xfrm>
          <a:prstGeom prst="rect">
            <a:avLst/>
          </a:prstGeom>
          <a:noFill/>
        </p:spPr>
        <p:txBody>
          <a:bodyPr wrap="square">
            <a:spAutoFit/>
          </a:bodyPr>
          <a:lstStyle/>
          <a:p>
            <a:pPr algn="l">
              <a:spcAft>
                <a:spcPts val="400"/>
              </a:spcAft>
            </a:pPr>
            <a:r>
              <a:rPr sz="1300" b="1" dirty="0">
                <a:solidFill>
                  <a:srgbClr val="2196F3"/>
                </a:solidFill>
                <a:latin typeface="Georgia"/>
              </a:rPr>
              <a:t>Future Work:</a:t>
            </a:r>
          </a:p>
          <a:p>
            <a:pPr algn="l">
              <a:spcAft>
                <a:spcPts val="400"/>
              </a:spcAft>
            </a:pPr>
            <a:endParaRPr sz="1300" b="1" dirty="0">
              <a:solidFill>
                <a:srgbClr val="2196F3"/>
              </a:solidFill>
              <a:latin typeface="Georgia"/>
            </a:endParaRPr>
          </a:p>
          <a:p>
            <a:pPr algn="l">
              <a:spcAft>
                <a:spcPts val="400"/>
              </a:spcAft>
            </a:pPr>
            <a:r>
              <a:rPr sz="1100" b="0" dirty="0">
                <a:solidFill>
                  <a:srgbClr val="333333"/>
                </a:solidFill>
                <a:latin typeface="Calibri"/>
              </a:rPr>
              <a:t>Test on 13B+ models (does the effect grow?)</a:t>
            </a:r>
          </a:p>
          <a:p>
            <a:pPr algn="l">
              <a:spcAft>
                <a:spcPts val="400"/>
              </a:spcAft>
            </a:pPr>
            <a:r>
              <a:rPr sz="1100" b="0" dirty="0">
                <a:solidFill>
                  <a:srgbClr val="333333"/>
                </a:solidFill>
                <a:latin typeface="Calibri"/>
              </a:rPr>
              <a:t>Test stochastic quantization (random noise)</a:t>
            </a:r>
          </a:p>
          <a:p>
            <a:pPr algn="l">
              <a:spcAft>
                <a:spcPts val="400"/>
              </a:spcAft>
            </a:pPr>
            <a:r>
              <a:rPr sz="1100" b="0" dirty="0">
                <a:solidFill>
                  <a:srgbClr val="333333"/>
                </a:solidFill>
                <a:latin typeface="Calibri"/>
              </a:rPr>
              <a:t>Try QAT vs PTQ comparison</a:t>
            </a:r>
          </a:p>
          <a:p>
            <a:pPr algn="l">
              <a:spcAft>
                <a:spcPts val="400"/>
              </a:spcAft>
            </a:pPr>
            <a:r>
              <a:rPr sz="1100" b="0" dirty="0">
                <a:solidFill>
                  <a:srgbClr val="333333"/>
                </a:solidFill>
                <a:latin typeface="Calibri"/>
              </a:rPr>
              <a:t>More datasets (SST-2, </a:t>
            </a:r>
            <a:r>
              <a:rPr sz="1100" b="0" dirty="0" err="1">
                <a:solidFill>
                  <a:srgbClr val="333333"/>
                </a:solidFill>
                <a:latin typeface="Calibri"/>
              </a:rPr>
              <a:t>BoolQ</a:t>
            </a:r>
            <a:r>
              <a:rPr sz="1100" b="0" dirty="0">
                <a:solidFill>
                  <a:srgbClr val="333333"/>
                </a:solidFill>
                <a:latin typeface="Calibri"/>
              </a:rPr>
              <a:t>, etc.)</a:t>
            </a:r>
          </a:p>
          <a:p>
            <a:pPr algn="l">
              <a:spcAft>
                <a:spcPts val="400"/>
              </a:spcAft>
            </a:pPr>
            <a:r>
              <a:rPr sz="1100" b="0" dirty="0">
                <a:solidFill>
                  <a:srgbClr val="333333"/>
                </a:solidFill>
                <a:latin typeface="Calibri"/>
              </a:rPr>
              <a:t>Theoretical bounds for the scale threshold</a:t>
            </a:r>
          </a:p>
        </p:txBody>
      </p:sp>
      <p:pic>
        <p:nvPicPr>
          <p:cNvPr id="9" name="Picture 8" descr="recommendations.png">
            <a:extLst>
              <a:ext uri="{FF2B5EF4-FFF2-40B4-BE49-F238E27FC236}">
                <a16:creationId xmlns:a16="http://schemas.microsoft.com/office/drawing/2014/main" id="{E8165920-BB53-AD87-C461-CAAB2A7E87C6}"/>
              </a:ext>
            </a:extLst>
          </p:cNvPr>
          <p:cNvPicPr>
            <a:picLocks noChangeAspect="1"/>
          </p:cNvPicPr>
          <p:nvPr/>
        </p:nvPicPr>
        <p:blipFill>
          <a:blip r:embed="rId3"/>
          <a:srcRect t="16013" b="15968"/>
          <a:stretch>
            <a:fillRect/>
          </a:stretch>
        </p:blipFill>
        <p:spPr>
          <a:xfrm>
            <a:off x="296781" y="1092200"/>
            <a:ext cx="11598438" cy="204046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685800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515600" cy="914400"/>
          </a:xfrm>
          <a:prstGeom prst="rect">
            <a:avLst/>
          </a:prstGeom>
          <a:noFill/>
        </p:spPr>
        <p:txBody>
          <a:bodyPr wrap="square">
            <a:spAutoFit/>
          </a:bodyPr>
          <a:lstStyle/>
          <a:p>
            <a:pPr algn="ctr">
              <a:defRPr sz="3200" b="1">
                <a:solidFill>
                  <a:srgbClr val="FFFFFF"/>
                </a:solidFill>
                <a:latin typeface="Georgia"/>
              </a:defRPr>
            </a:pPr>
            <a:r>
              <a:t>Key Takeaways</a:t>
            </a:r>
          </a:p>
        </p:txBody>
      </p:sp>
      <p:sp>
        <p:nvSpPr>
          <p:cNvPr id="4" name="Rounded Rectangle 3"/>
          <p:cNvSpPr/>
          <p:nvPr/>
        </p:nvSpPr>
        <p:spPr>
          <a:xfrm>
            <a:off x="731520" y="1645920"/>
            <a:ext cx="10789920" cy="822960"/>
          </a:xfrm>
          <a:prstGeom prst="roundRect">
            <a:avLst/>
          </a:prstGeom>
          <a:solidFill>
            <a:srgbClr val="2C3E80"/>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37360"/>
            <a:ext cx="10058400" cy="640080"/>
          </a:xfrm>
          <a:prstGeom prst="rect">
            <a:avLst/>
          </a:prstGeom>
          <a:noFill/>
        </p:spPr>
        <p:txBody>
          <a:bodyPr wrap="square">
            <a:spAutoFit/>
          </a:bodyPr>
          <a:lstStyle/>
          <a:p>
            <a:pPr algn="l">
              <a:defRPr sz="1500" b="1">
                <a:solidFill>
                  <a:srgbClr val="FFFFFF"/>
                </a:solidFill>
                <a:latin typeface="Calibri"/>
              </a:defRPr>
            </a:pPr>
            <a:r>
              <a:t>1. Quantization as regularization is SCALE-DEPENDENT: absent at 1.1B, genuine at 7B</a:t>
            </a:r>
          </a:p>
        </p:txBody>
      </p:sp>
      <p:sp>
        <p:nvSpPr>
          <p:cNvPr id="6" name="Rounded Rectangle 5"/>
          <p:cNvSpPr/>
          <p:nvPr/>
        </p:nvSpPr>
        <p:spPr>
          <a:xfrm>
            <a:off x="731520" y="2651760"/>
            <a:ext cx="10789920" cy="822960"/>
          </a:xfrm>
          <a:prstGeom prst="roundRect">
            <a:avLst/>
          </a:prstGeom>
          <a:solidFill>
            <a:srgbClr val="2C3E80"/>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743200"/>
            <a:ext cx="10058400" cy="640080"/>
          </a:xfrm>
          <a:prstGeom prst="rect">
            <a:avLst/>
          </a:prstGeom>
          <a:noFill/>
        </p:spPr>
        <p:txBody>
          <a:bodyPr wrap="square">
            <a:spAutoFit/>
          </a:bodyPr>
          <a:lstStyle/>
          <a:p>
            <a:pPr algn="l">
              <a:defRPr sz="1500" b="1">
                <a:solidFill>
                  <a:srgbClr val="FFFFFF"/>
                </a:solidFill>
                <a:latin typeface="Calibri"/>
              </a:defRPr>
            </a:pPr>
            <a:r>
              <a:t>2. At 7B, 8-bit quantization improves generalization by up to 0.021 NLL — use it!</a:t>
            </a:r>
          </a:p>
        </p:txBody>
      </p:sp>
      <p:sp>
        <p:nvSpPr>
          <p:cNvPr id="8" name="Rounded Rectangle 7"/>
          <p:cNvSpPr/>
          <p:nvPr/>
        </p:nvSpPr>
        <p:spPr>
          <a:xfrm>
            <a:off x="731520" y="3657600"/>
            <a:ext cx="10789920" cy="822960"/>
          </a:xfrm>
          <a:prstGeom prst="roundRect">
            <a:avLst/>
          </a:prstGeom>
          <a:solidFill>
            <a:srgbClr val="2C3E80"/>
          </a:solidFill>
          <a:ln w="1270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3749039"/>
            <a:ext cx="10058400" cy="640080"/>
          </a:xfrm>
          <a:prstGeom prst="rect">
            <a:avLst/>
          </a:prstGeom>
          <a:noFill/>
        </p:spPr>
        <p:txBody>
          <a:bodyPr wrap="square">
            <a:spAutoFit/>
          </a:bodyPr>
          <a:lstStyle/>
          <a:p>
            <a:pPr algn="l">
              <a:defRPr sz="1500" b="1">
                <a:solidFill>
                  <a:srgbClr val="FFFFFF"/>
                </a:solidFill>
                <a:latin typeface="Calibri"/>
              </a:defRPr>
            </a:pPr>
            <a:r>
              <a:t>3. Negative results are valuable: we prevented a false hypothesis at small scale</a:t>
            </a:r>
          </a:p>
        </p:txBody>
      </p:sp>
      <p:sp>
        <p:nvSpPr>
          <p:cNvPr id="10" name="Rounded Rectangle 9"/>
          <p:cNvSpPr/>
          <p:nvPr/>
        </p:nvSpPr>
        <p:spPr>
          <a:xfrm>
            <a:off x="4114800" y="4754880"/>
            <a:ext cx="4114800" cy="36576"/>
          </a:xfrm>
          <a:prstGeom prst="round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029200"/>
            <a:ext cx="10515600" cy="640080"/>
          </a:xfrm>
          <a:prstGeom prst="rect">
            <a:avLst/>
          </a:prstGeom>
          <a:noFill/>
        </p:spPr>
        <p:txBody>
          <a:bodyPr wrap="square">
            <a:spAutoFit/>
          </a:bodyPr>
          <a:lstStyle/>
          <a:p>
            <a:pPr algn="ctr">
              <a:defRPr sz="2800" b="1">
                <a:solidFill>
                  <a:srgbClr val="FFFFFF"/>
                </a:solidFill>
                <a:latin typeface="Georgia"/>
              </a:defRPr>
            </a:pPr>
            <a:r>
              <a:t>Thank You — Questions?</a:t>
            </a:r>
          </a:p>
        </p:txBody>
      </p:sp>
      <p:sp>
        <p:nvSpPr>
          <p:cNvPr id="12" name="TextBox 11"/>
          <p:cNvSpPr txBox="1"/>
          <p:nvPr/>
        </p:nvSpPr>
        <p:spPr>
          <a:xfrm>
            <a:off x="914400" y="5669280"/>
            <a:ext cx="10515600" cy="365760"/>
          </a:xfrm>
          <a:prstGeom prst="rect">
            <a:avLst/>
          </a:prstGeom>
          <a:noFill/>
        </p:spPr>
        <p:txBody>
          <a:bodyPr wrap="square">
            <a:spAutoFit/>
          </a:bodyPr>
          <a:lstStyle/>
          <a:p>
            <a:pPr algn="ctr">
              <a:defRPr sz="1200" b="0">
                <a:solidFill>
                  <a:srgbClr val="CADCFC"/>
                </a:solidFill>
                <a:latin typeface="Calibri"/>
              </a:defRPr>
            </a:pPr>
            <a:r>
              <a:t>Armaan Rehman Shah  •  Burhanuddin Dalal  •  STAD68H3  •  Winter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2000" cy="822960"/>
          </a:xfrm>
          <a:prstGeom prst="round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972800" cy="640080"/>
          </a:xfrm>
          <a:prstGeom prst="rect">
            <a:avLst/>
          </a:prstGeom>
          <a:noFill/>
        </p:spPr>
        <p:txBody>
          <a:bodyPr wrap="square">
            <a:spAutoFit/>
          </a:bodyPr>
          <a:lstStyle/>
          <a:p>
            <a:pPr algn="l">
              <a:defRPr sz="2800" b="1">
                <a:solidFill>
                  <a:srgbClr val="FFFFFF"/>
                </a:solidFill>
                <a:latin typeface="Georgia"/>
              </a:defRPr>
            </a:pPr>
            <a:r>
              <a:t>References</a:t>
            </a:r>
          </a:p>
        </p:txBody>
      </p:sp>
      <p:sp>
        <p:nvSpPr>
          <p:cNvPr id="4" name="TextBox 3"/>
          <p:cNvSpPr txBox="1"/>
          <p:nvPr/>
        </p:nvSpPr>
        <p:spPr>
          <a:xfrm>
            <a:off x="731520" y="1097280"/>
            <a:ext cx="10515600" cy="3708708"/>
          </a:xfrm>
          <a:prstGeom prst="rect">
            <a:avLst/>
          </a:prstGeom>
          <a:noFill/>
        </p:spPr>
        <p:txBody>
          <a:bodyPr wrap="square">
            <a:spAutoFit/>
          </a:bodyPr>
          <a:lstStyle/>
          <a:p>
            <a:pPr algn="l">
              <a:spcAft>
                <a:spcPts val="1400"/>
              </a:spcAft>
              <a:defRPr sz="1300">
                <a:solidFill>
                  <a:srgbClr val="333333"/>
                </a:solidFill>
                <a:latin typeface="Calibri"/>
              </a:defRPr>
            </a:pPr>
            <a:r>
              <a:rPr sz="2000" dirty="0"/>
              <a:t>[1]  Hu, E.J., Shen, Y., Wallis, P., Allen-Zhu, Z., Li, Y., Wang, S., Wang, L., and Chen, W. </a:t>
            </a:r>
            <a:r>
              <a:rPr sz="2000" dirty="0" err="1"/>
              <a:t>LoRA</a:t>
            </a:r>
            <a:r>
              <a:rPr sz="2000" dirty="0"/>
              <a:t>: Low-rank adaptation of large language models. </a:t>
            </a:r>
            <a:r>
              <a:rPr sz="2000" dirty="0" err="1"/>
              <a:t>arXiv</a:t>
            </a:r>
            <a:r>
              <a:rPr sz="2000" dirty="0"/>
              <a:t> preprint arXiv:2106.09685, 2021.</a:t>
            </a:r>
          </a:p>
          <a:p>
            <a:pPr algn="l">
              <a:spcAft>
                <a:spcPts val="1400"/>
              </a:spcAft>
              <a:defRPr sz="1300">
                <a:solidFill>
                  <a:srgbClr val="333333"/>
                </a:solidFill>
                <a:latin typeface="Calibri"/>
              </a:defRPr>
            </a:pPr>
            <a:r>
              <a:rPr sz="2000" dirty="0"/>
              <a:t>[2]  Dettmers, T., Pagnoni, A., Holtzman, A., and Zettlemoyer, L. </a:t>
            </a:r>
            <a:r>
              <a:rPr sz="2000" dirty="0" err="1"/>
              <a:t>QLoRA</a:t>
            </a:r>
            <a:r>
              <a:rPr sz="2000" dirty="0"/>
              <a:t>: Efficient finetuning of quantized LLMs. </a:t>
            </a:r>
            <a:r>
              <a:rPr sz="2000" dirty="0" err="1"/>
              <a:t>arXiv</a:t>
            </a:r>
            <a:r>
              <a:rPr sz="2000" dirty="0"/>
              <a:t> preprint arXiv:2305.14314, 2023.</a:t>
            </a:r>
          </a:p>
          <a:p>
            <a:pPr algn="l">
              <a:spcAft>
                <a:spcPts val="1400"/>
              </a:spcAft>
              <a:defRPr sz="1300">
                <a:solidFill>
                  <a:srgbClr val="333333"/>
                </a:solidFill>
                <a:latin typeface="Calibri"/>
              </a:defRPr>
            </a:pPr>
            <a:r>
              <a:rPr sz="2000" dirty="0"/>
              <a:t>[3]  </a:t>
            </a:r>
            <a:r>
              <a:rPr sz="2000" dirty="0" err="1"/>
              <a:t>AskariHemmat</a:t>
            </a:r>
            <a:r>
              <a:rPr sz="2000" dirty="0"/>
              <a:t>, M.H., </a:t>
            </a:r>
            <a:r>
              <a:rPr sz="2000" dirty="0" err="1"/>
              <a:t>Jeddi</a:t>
            </a:r>
            <a:r>
              <a:rPr sz="2000" dirty="0"/>
              <a:t>, A., Askari Hemmat, R., </a:t>
            </a:r>
            <a:r>
              <a:rPr sz="2000" dirty="0" err="1"/>
              <a:t>Lazarevich</a:t>
            </a:r>
            <a:r>
              <a:rPr sz="2000" dirty="0"/>
              <a:t>, I., Hoffman, A., Sah, S., </a:t>
            </a:r>
            <a:r>
              <a:rPr sz="2000" dirty="0" err="1"/>
              <a:t>Saboori</a:t>
            </a:r>
            <a:r>
              <a:rPr sz="2000" dirty="0"/>
              <a:t>, E., Savaria, Y., and David, J.-P. Quantization and generalization behavior in large models. </a:t>
            </a:r>
            <a:r>
              <a:rPr sz="2000" dirty="0" err="1"/>
              <a:t>arXiv</a:t>
            </a:r>
            <a:r>
              <a:rPr sz="2000" dirty="0"/>
              <a:t> preprint arXiv:2404.11769, 2024.</a:t>
            </a:r>
          </a:p>
          <a:p>
            <a:pPr algn="l">
              <a:spcAft>
                <a:spcPts val="1400"/>
              </a:spcAft>
              <a:defRPr sz="1300">
                <a:solidFill>
                  <a:srgbClr val="333333"/>
                </a:solidFill>
                <a:latin typeface="Calibri"/>
              </a:defRPr>
            </a:pPr>
            <a:r>
              <a:rPr sz="2000" dirty="0"/>
              <a:t>[4]  </a:t>
            </a:r>
            <a:r>
              <a:rPr sz="2000" dirty="0" err="1"/>
              <a:t>Taori</a:t>
            </a:r>
            <a:r>
              <a:rPr sz="2000" dirty="0"/>
              <a:t>, R., Gulrajani, I., Zhang, T., Dubois, Y., Li, X., </a:t>
            </a:r>
            <a:r>
              <a:rPr sz="2000" dirty="0" err="1"/>
              <a:t>Guestrin</a:t>
            </a:r>
            <a:r>
              <a:rPr sz="2000" dirty="0"/>
              <a:t>, C., Liang, P., and Hashimoto, T.B. Stanford Alpaca: An instruction-following </a:t>
            </a:r>
            <a:r>
              <a:rPr sz="2000" dirty="0" err="1"/>
              <a:t>LLaMA</a:t>
            </a:r>
            <a:r>
              <a:rPr sz="2000" dirty="0"/>
              <a:t> model. </a:t>
            </a:r>
            <a:r>
              <a:rPr sz="2000" dirty="0">
                <a:hlinkClick r:id="rId3"/>
              </a:rPr>
              <a:t>https://github.com/tatsu-lab/stanford_alpaca</a:t>
            </a:r>
            <a:r>
              <a:rPr sz="2000" dirty="0"/>
              <a:t>, 2023</a:t>
            </a:r>
            <a:r>
              <a:rPr lang="en-US" sz="2000" dirty="0"/>
              <a:t>.</a:t>
            </a:r>
          </a:p>
        </p:txBody>
      </p:sp>
    </p:spTree>
  </p:cSld>
  <p:clrMapOvr>
    <a:masterClrMapping/>
  </p:clrMapOvr>
</p:sld>
</file>

<file path=ppt/theme/theme1.xml><?xml version="1.0" encoding="utf-8"?>
<a:theme xmlns:a="http://schemas.openxmlformats.org/drawingml/2006/main" name="Office Theme">
  <a:themeElements>
    <a:clrScheme name="Purdue Brand Colors">
      <a:dk1>
        <a:srgbClr val="000000"/>
      </a:dk1>
      <a:lt1>
        <a:srgbClr val="FFFFFF"/>
      </a:lt1>
      <a:dk2>
        <a:srgbClr val="000000"/>
      </a:dk2>
      <a:lt2>
        <a:srgbClr val="FFFFFF"/>
      </a:lt2>
      <a:accent1>
        <a:srgbClr val="C28E0E"/>
      </a:accent1>
      <a:accent2>
        <a:srgbClr val="98700D"/>
      </a:accent2>
      <a:accent3>
        <a:srgbClr val="5B6870"/>
      </a:accent3>
      <a:accent4>
        <a:srgbClr val="849E2A"/>
      </a:accent4>
      <a:accent5>
        <a:srgbClr val="B36012"/>
      </a:accent5>
      <a:accent6>
        <a:srgbClr val="000000"/>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ickoff_Krannert PPT Template Fall 2020" id="{7F564E6E-931D-2248-A6D8-699F856A0423}" vid="{6210EF1E-4094-0046-A178-25E1C2EFAE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23"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26E4020-E655-4BED-A1E4-60BDAD4A0058}">
  <we:reference id="wa200010001" version="1.0.0.1" store="en-US" storeType="OMEX"/>
  <we:alternateReferences>
    <we:reference id="wa200010001" version="1.0.0.1" store="wa20001000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bookType xmlns="ae2bf874-6b45-43ce-a3eb-a95ffd8dde6d" xsi:nil="true"/>
    <Math_Settings xmlns="ae2bf874-6b45-43ce-a3eb-a95ffd8dde6d" xsi:nil="true"/>
    <DefaultSectionNames xmlns="ae2bf874-6b45-43ce-a3eb-a95ffd8dde6d" xsi:nil="true"/>
    <Invited_Members xmlns="ae2bf874-6b45-43ce-a3eb-a95ffd8dde6d" xsi:nil="true"/>
    <AppVersion xmlns="ae2bf874-6b45-43ce-a3eb-a95ffd8dde6d" xsi:nil="true"/>
    <TeamsChannelId xmlns="ae2bf874-6b45-43ce-a3eb-a95ffd8dde6d" xsi:nil="true"/>
    <Owner xmlns="ae2bf874-6b45-43ce-a3eb-a95ffd8dde6d">
      <UserInfo>
        <DisplayName/>
        <AccountId xsi:nil="true"/>
        <AccountType/>
      </UserInfo>
    </Owner>
    <Is_Collaboration_Space_Locked xmlns="ae2bf874-6b45-43ce-a3eb-a95ffd8dde6d" xsi:nil="true"/>
    <Invited_Leaders xmlns="ae2bf874-6b45-43ce-a3eb-a95ffd8dde6d" xsi:nil="true"/>
    <LMS_Mappings xmlns="ae2bf874-6b45-43ce-a3eb-a95ffd8dde6d" xsi:nil="true"/>
    <IsNotebookLocked xmlns="ae2bf874-6b45-43ce-a3eb-a95ffd8dde6d" xsi:nil="true"/>
    <FolderType xmlns="ae2bf874-6b45-43ce-a3eb-a95ffd8dde6d" xsi:nil="true"/>
    <CultureName xmlns="ae2bf874-6b45-43ce-a3eb-a95ffd8dde6d" xsi:nil="true"/>
    <Distribution_Groups xmlns="ae2bf874-6b45-43ce-a3eb-a95ffd8dde6d" xsi:nil="true"/>
    <Member_Groups xmlns="ae2bf874-6b45-43ce-a3eb-a95ffd8dde6d">
      <UserInfo>
        <DisplayName/>
        <AccountId xsi:nil="true"/>
        <AccountType/>
      </UserInfo>
    </Member_Groups>
    <Self_Registration_Enabled xmlns="ae2bf874-6b45-43ce-a3eb-a95ffd8dde6d" xsi:nil="true"/>
    <Leaders xmlns="ae2bf874-6b45-43ce-a3eb-a95ffd8dde6d">
      <UserInfo>
        <DisplayName/>
        <AccountId xsi:nil="true"/>
        <AccountType/>
      </UserInfo>
    </Leaders>
    <Templates xmlns="ae2bf874-6b45-43ce-a3eb-a95ffd8dde6d" xsi:nil="true"/>
    <Members xmlns="ae2bf874-6b45-43ce-a3eb-a95ffd8dde6d">
      <UserInfo>
        <DisplayName/>
        <AccountId xsi:nil="true"/>
        <AccountType/>
      </UserInfo>
    </Members>
    <Has_Leaders_Only_SectionGroup xmlns="ae2bf874-6b45-43ce-a3eb-a95ffd8dde6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7C78383DFA4754894F77A64F8A69C22" ma:contentTypeVersion="32" ma:contentTypeDescription="Create a new document." ma:contentTypeScope="" ma:versionID="4ae6dabb8ea982182ef5da9963b2dc54">
  <xsd:schema xmlns:xsd="http://www.w3.org/2001/XMLSchema" xmlns:xs="http://www.w3.org/2001/XMLSchema" xmlns:p="http://schemas.microsoft.com/office/2006/metadata/properties" xmlns:ns2="ae2bf874-6b45-43ce-a3eb-a95ffd8dde6d" xmlns:ns3="81a243ec-6252-49a6-8f0a-81df278269d8" targetNamespace="http://schemas.microsoft.com/office/2006/metadata/properties" ma:root="true" ma:fieldsID="c1462bc5e574fc8843fd2da807d58a20" ns2:_="" ns3:_="">
    <xsd:import namespace="ae2bf874-6b45-43ce-a3eb-a95ffd8dde6d"/>
    <xsd:import namespace="81a243ec-6252-49a6-8f0a-81df278269d8"/>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AutoTags" minOccurs="0"/>
                <xsd:element ref="ns2:MediaServiceOCR"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bf874-6b45-43ce-a3eb-a95ffd8dde6d"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Tags" ma:index="30" nillable="true" ma:displayName="Tags" ma:internalName="MediaServiceAutoTags" ma:readOnly="true">
      <xsd:simpleType>
        <xsd:restriction base="dms:Text"/>
      </xsd:simpleType>
    </xsd:element>
    <xsd:element name="MediaServiceOCR" ma:index="31" nillable="true" ma:displayName="Extracted Text" ma:internalName="MediaServiceOCR" ma:readOnly="true">
      <xsd:simpleType>
        <xsd:restriction base="dms:Note">
          <xsd:maxLength value="255"/>
        </xsd:restriction>
      </xsd:simpleType>
    </xsd:element>
    <xsd:element name="MediaServiceAutoKeyPoints" ma:index="32" nillable="true" ma:displayName="MediaServiceAutoKeyPoints" ma:hidden="true" ma:internalName="MediaServiceAutoKeyPoints" ma:readOnly="true">
      <xsd:simpleType>
        <xsd:restriction base="dms:Note"/>
      </xsd:simpleType>
    </xsd:element>
    <xsd:element name="MediaServiceKeyPoints" ma:index="33" nillable="true" ma:displayName="KeyPoints" ma:internalName="MediaServiceKeyPoints" ma:readOnly="true">
      <xsd:simpleType>
        <xsd:restriction base="dms:Note">
          <xsd:maxLength value="255"/>
        </xsd:restriction>
      </xsd:simpleType>
    </xsd:element>
    <xsd:element name="MediaServiceDateTaken" ma:index="34" nillable="true" ma:displayName="MediaServiceDateTaken" ma:hidden="true" ma:internalName="MediaServiceDateTaken" ma:readOnly="true">
      <xsd:simpleType>
        <xsd:restriction base="dms:Text"/>
      </xsd:simpleType>
    </xsd:element>
    <xsd:element name="MediaServiceGenerationTime" ma:index="35" nillable="true" ma:displayName="MediaServiceGenerationTime" ma:hidden="true" ma:internalName="MediaServiceGenerationTime" ma:readOnly="true">
      <xsd:simpleType>
        <xsd:restriction base="dms:Text"/>
      </xsd:simpleType>
    </xsd:element>
    <xsd:element name="MediaServiceEventHashCode" ma:index="36" nillable="true" ma:displayName="MediaServiceEventHashCode" ma:hidden="true" ma:internalName="MediaServiceEventHashCode" ma:readOnly="true">
      <xsd:simpleType>
        <xsd:restriction base="dms:Text"/>
      </xsd:simpleType>
    </xsd:element>
    <xsd:element name="MediaServiceLocation" ma:index="3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a243ec-6252-49a6-8f0a-81df278269d8" elementFormDefault="qualified">
    <xsd:import namespace="http://schemas.microsoft.com/office/2006/documentManagement/types"/>
    <xsd:import namespace="http://schemas.microsoft.com/office/infopath/2007/PartnerControls"/>
    <xsd:element name="SharedWithUsers" ma:index="3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2A95C8-4173-4CF7-AA8E-41F8841AC248}">
  <ds:schemaRefs>
    <ds:schemaRef ds:uri="http://schemas.microsoft.com/sharepoint/v3/contenttype/forms"/>
  </ds:schemaRefs>
</ds:datastoreItem>
</file>

<file path=customXml/itemProps2.xml><?xml version="1.0" encoding="utf-8"?>
<ds:datastoreItem xmlns:ds="http://schemas.openxmlformats.org/officeDocument/2006/customXml" ds:itemID="{450A3B31-17FB-47BB-AF4A-6E750D7C8882}">
  <ds:schemaRefs>
    <ds:schemaRef ds:uri="http://purl.org/dc/dcmitype/"/>
    <ds:schemaRef ds:uri="http://schemas.microsoft.com/office/2006/documentManagement/types"/>
    <ds:schemaRef ds:uri="http://purl.org/dc/elements/1.1/"/>
    <ds:schemaRef ds:uri="http://schemas.microsoft.com/office/2006/metadata/properties"/>
    <ds:schemaRef ds:uri="http://purl.org/dc/terms/"/>
    <ds:schemaRef ds:uri="ae2bf874-6b45-43ce-a3eb-a95ffd8dde6d"/>
    <ds:schemaRef ds:uri="http://schemas.microsoft.com/office/infopath/2007/PartnerControls"/>
    <ds:schemaRef ds:uri="http://schemas.openxmlformats.org/package/2006/metadata/core-properties"/>
    <ds:schemaRef ds:uri="81a243ec-6252-49a6-8f0a-81df278269d8"/>
    <ds:schemaRef ds:uri="http://www.w3.org/XML/1998/namespace"/>
  </ds:schemaRefs>
</ds:datastoreItem>
</file>

<file path=customXml/itemProps3.xml><?xml version="1.0" encoding="utf-8"?>
<ds:datastoreItem xmlns:ds="http://schemas.openxmlformats.org/officeDocument/2006/customXml" ds:itemID="{05D1B9CB-4832-4C35-86C6-1F30B395A3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bf874-6b45-43ce-a3eb-a95ffd8dde6d"/>
    <ds:schemaRef ds:uri="81a243ec-6252-49a6-8f0a-81df278269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988</TotalTime>
  <Words>3753</Words>
  <Application>Microsoft Office PowerPoint</Application>
  <PresentationFormat>Widescreen</PresentationFormat>
  <Paragraphs>256</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 Display</vt:lpstr>
      <vt:lpstr>Arial</vt:lpstr>
      <vt:lpstr>Calibri</vt:lpstr>
      <vt:lpstr>Cambria Math</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subject/>
  <dc:creator>Zhang, Yichen</dc:creator>
  <cp:keywords/>
  <dc:description/>
  <cp:lastModifiedBy>Armaan Rehman Shah</cp:lastModifiedBy>
  <cp:revision>137</cp:revision>
  <dcterms:created xsi:type="dcterms:W3CDTF">2022-03-11T01:51:14Z</dcterms:created>
  <dcterms:modified xsi:type="dcterms:W3CDTF">2026-03-27T15:31:26Z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0x01010087C78383DFA4754894F77A64F8A69C22</vt:lpwstr>
  </property>
</Properties>
</file>